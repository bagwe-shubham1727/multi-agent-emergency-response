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2b11da82-5003-fb61-ebfe-3bc8332da9ba}">
          <p14:sldIdLst>
            <p14:sldId id="256"/>
          </p14:sldIdLst>
        </p14:section>
        <p14:section name="Design plan" id="{031aa6a1-7390-f2e7-47d3-d2bca2d23fba}">
          <p14:sldIdLst>
            <p14:sldId id="257"/>
          </p14:sldIdLst>
        </p14:section>
        <p14:section name="Data progress" id="{2ca83c87-2123-abd6-8048-f036c86b775d}">
          <p14:sldIdLst>
            <p14:sldId id="258"/>
          </p14:sldIdLst>
        </p14:section>
        <p14:section name="System flow" id="{546ed7a3-4d33-1019-d26d-6ad28b9e794e}">
          <p14:sldIdLst>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check-in for the mid-term project. Two things today: the plan for the simulation and agents, and the synthetic data, which is already generated and validated. The map on the right is the real surge scenario the agents will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is deterministic and is the only thing that changes state. Agents are called on events (a new incident, a freed unit, a rejection), not on every tick, which keeps LLM cost and latency down. Agents built with the OpenAI Agents SDK read state and propose actions through function tools; the engine rejects anything invalid, so an LLM mistake cannot break the simulation. The four agents have conflicting goals on purpose: hospitals want to hold beds for critical cases, dispatch wants to place patients now. Conflicts go through a contract-net style protocol, capped at three rounds, then Resource Allocation decides. To show negotiation actually helps, the same seeded scenarios run under a greedy baseline, agents without negotiation, and the full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generator is done: python -m emergency_sim.datagen writes three scenarios from seed 7380, and python -m emergency_sim.validate regenerates each one and compares SHA-256 hashes, so the data is byte-identical on the same Python version (tested on 3.14). normal: 11 incidents, 21 victims, 18/32 ER beds free. surge: 14 incidents, 39 victims, 14/32 ER beds free, and a mass-casualty cluster of 17 patients (4 RED) within 6 minutes, more than the 12 ambulance seats. constrained: exactly the surge incidents, but only 10/32 ER beds free, one ambulance out of service and fewer staff. Because scenarios share their random incident streams, differences in results come from resources, not from different incidents. Agents only see the caller report and a noisy victim count; the true victims are kept for scoring. Next step for the data is an LLM pass that rewrites caller reports in varied wording, cached to a file so reruns stay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system flow end to end. Across the top: seeded synthetic data feeds the deterministic engine, which is the only thing that changes state; every message is written to an event log, which the Streamlit dashboard replays. In the middle are the six agent instances: Incident Assessment, Dispatch, one Hospital Coordination agent per hospital, each with different capabilities, and Resource Allocation. Agents only read state and propose actions through tools; the engine enforces every rule. Below that is the negotiation protocol itself: a priority report triggers a proposal, hospitals respond, clashes escalate, and Resource Allocation commits within three rounds using a survival-weighted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691640"/>
            <a:ext cx="6766560" cy="1280160"/>
          </a:xfrm>
          <a:prstGeom prst="rect">
            <a:avLst/>
          </a:prstGeom>
          <a:noFill/>
          <a:ln/>
        </p:spPr>
        <p:txBody>
          <a:bodyPr wrap="square" rtlCol="0"/>
          <a:lstStyle>
            <a:lvl1pPr algn="l" indent="0" marL="0">
              <a:buNone/>
              <a:defRPr lang="en-US" sz="4000" b="1" dirty="0">
                <a:solidFill>
                  <a:schemeClr val="bg1"/>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640080" y="3063240"/>
            <a:ext cx="6766560" cy="45720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21792"/>
          </a:xfrm>
          <a:prstGeom prst="rect">
            <a:avLst/>
          </a:prstGeom>
          <a:noFill/>
          <a:ln/>
        </p:spPr>
        <p:txBody>
          <a:bodyPr wrap="square" rtlCol="0"/>
          <a:lstStyle>
            <a:lvl1pPr algn="l" indent="0" marL="0">
              <a:buNone/>
              <a:defRPr lang="en-US" sz="3400" b="1" dirty="0">
                <a:solidFill>
                  <a:schemeClr val="tx1"/>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3" name="Text 0"/>
          <p:cNvSpPr/>
          <p:nvPr>
            <p:ph idx="101" type="body" hasCustomPrompt="1"/>
          </p:nvPr>
        </p:nvSpPr>
        <p:spPr>
          <a:xfrm>
            <a:off x="548640" y="969264"/>
            <a:ext cx="11091672" cy="384048"/>
          </a:xfrm>
          <a:prstGeom prst="rect">
            <a:avLst/>
          </a:prstGeom>
          <a:noFill/>
          <a:ln/>
        </p:spPr>
        <p:txBody>
          <a:bodyPr wrap="square" rtlCol="0"/>
          <a:lstStyle>
            <a:lvl1pPr algn="l" indent="0" marL="0">
              <a:buNone/>
              <a:defRPr lang="en-US" sz="1600" dirty="0">
                <a:solidFill>
                  <a:schemeClr val="accent5"/>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4"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CSYE7380 · Shubham Bagwe · Mid-term progress check-in</a:t>
            </a:r>
            <a:endParaRPr lang="en-US" sz="10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325880"/>
            <a:ext cx="67665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MID-TERM PROJECT · PROGRESS CHECK-IN · 21 OCT 2026</a:t>
            </a:r>
            <a:endParaRPr lang="en-US" sz="1200" dirty="0"/>
          </a:p>
        </p:txBody>
      </p:sp>
      <p:sp>
        <p:nvSpPr>
          <p:cNvPr id="3" name="Text 0"/>
          <p:cNvSpPr/>
          <p:nvPr>
            <p:ph idx="100" type="title" hasCustomPrompt="1"/>
          </p:nvPr>
        </p:nvSpPr>
        <p:spPr>
          <a:xfrm>
            <a:off x="640080" y="1691640"/>
            <a:ext cx="6766560" cy="1280160"/>
          </a:xfrm>
          <a:prstGeom prst="rect">
            <a:avLst/>
          </a:prstGeom>
          <a:noFill/>
          <a:ln/>
        </p:spPr>
        <p:txBody>
          <a:bodyPr wrap="square" lIns="0" tIns="0" rIns="0" bIns="0" rtlCol="0" anchor="t"/>
          <a:lstStyle/>
          <a:p>
            <a:pPr algn="l" indent="0" marL="0">
              <a:buNone/>
            </a:pPr>
            <a:r>
              <a:rPr lang="en-US" sz="4000" b="1" dirty="0">
                <a:solidFill>
                  <a:schemeClr val="bg1"/>
                </a:solidFill>
                <a:latin typeface="Arial" pitchFamily="34" charset="0"/>
                <a:ea typeface="Arial" pitchFamily="34" charset="-122"/>
                <a:cs typeface="Arial" pitchFamily="34" charset="-120"/>
              </a:rPr>
              <a:t>Emergency Response Coordination</a:t>
            </a:r>
            <a:endParaRPr lang="en-US" sz="4000" dirty="0"/>
          </a:p>
        </p:txBody>
      </p:sp>
      <p:sp>
        <p:nvSpPr>
          <p:cNvPr id="4" name="Text 0"/>
          <p:cNvSpPr/>
          <p:nvPr>
            <p:ph idx="101" type="body" hasCustomPrompt="1"/>
          </p:nvPr>
        </p:nvSpPr>
        <p:spPr>
          <a:xfrm>
            <a:off x="640080" y="3063240"/>
            <a:ext cx="6766560" cy="457200"/>
          </a:xfrm>
          <a:prstGeom prst="rect">
            <a:avLst/>
          </a:prstGeom>
          <a:noFill/>
          <a:ln/>
        </p:spPr>
        <p:txBody>
          <a:bodyPr wrap="square" lIns="0" tIns="0" rIns="0" bIns="0"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Simulation design and synthetic data</a:t>
            </a:r>
            <a:endParaRPr lang="en-US" sz="2000" dirty="0"/>
          </a:p>
        </p:txBody>
      </p:sp>
      <p:sp>
        <p:nvSpPr>
          <p:cNvPr id="5" name="label-Topic"/>
          <p:cNvSpPr txBox="1"/>
          <p:nvPr/>
        </p:nvSpPr>
        <p:spPr>
          <a:xfrm>
            <a:off x="640080" y="3840480"/>
            <a:ext cx="6766560" cy="77724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6"/>
                </a:solidFill>
              </a:rPr>
              <a:t>TOPIC</a:t>
            </a:r>
            <a:endParaRPr lang="en-US" sz="1100" dirty="0"/>
          </a:p>
          <a:p>
            <a:pPr indent="0" marL="0">
              <a:spcAft>
                <a:spcPts val="400"/>
              </a:spcAft>
              <a:buNone/>
            </a:pPr>
            <a:r>
              <a:rPr lang="en-US" sz="1600" dirty="0">
                <a:solidFill>
                  <a:schemeClr val="bg1"/>
                </a:solidFill>
              </a:rPr>
              <a:t>Intelligent Agents and Multi-Agent Systems for Emergency Response Coordination</a:t>
            </a:r>
            <a:endParaRPr lang="en-US" sz="1100" dirty="0"/>
          </a:p>
        </p:txBody>
      </p:sp>
      <p:sp>
        <p:nvSpPr>
          <p:cNvPr id="6" name="label-Course"/>
          <p:cNvSpPr txBox="1"/>
          <p:nvPr/>
        </p:nvSpPr>
        <p:spPr>
          <a:xfrm>
            <a:off x="640080" y="4846320"/>
            <a:ext cx="2377440" cy="91440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6"/>
                </a:solidFill>
              </a:rPr>
              <a:t>COURSE</a:t>
            </a:r>
            <a:endParaRPr lang="en-US" sz="1100" dirty="0"/>
          </a:p>
          <a:p>
            <a:pPr indent="0" marL="0">
              <a:spcAft>
                <a:spcPts val="400"/>
              </a:spcAft>
              <a:buNone/>
            </a:pPr>
            <a:r>
              <a:rPr lang="en-US" sz="1600" dirty="0">
                <a:solidFill>
                  <a:schemeClr val="bg1"/>
                </a:solidFill>
              </a:rPr>
              <a:t>CSYE7380 Theory &amp; Prac App AI Gen Model</a:t>
            </a:r>
            <a:endParaRPr lang="en-US" sz="1100" dirty="0"/>
          </a:p>
        </p:txBody>
      </p:sp>
      <p:sp>
        <p:nvSpPr>
          <p:cNvPr id="7" name="label-Name"/>
          <p:cNvSpPr txBox="1"/>
          <p:nvPr/>
        </p:nvSpPr>
        <p:spPr>
          <a:xfrm>
            <a:off x="3200400" y="4846320"/>
            <a:ext cx="1920240" cy="91440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6"/>
                </a:solidFill>
              </a:rPr>
              <a:t>NAME</a:t>
            </a:r>
            <a:endParaRPr lang="en-US" sz="1100" dirty="0"/>
          </a:p>
          <a:p>
            <a:pPr indent="0" marL="0">
              <a:spcAft>
                <a:spcPts val="400"/>
              </a:spcAft>
              <a:buNone/>
            </a:pPr>
            <a:r>
              <a:rPr lang="en-US" sz="1600" dirty="0">
                <a:solidFill>
                  <a:schemeClr val="bg1"/>
                </a:solidFill>
              </a:rPr>
              <a:t>Shubham Bagwe</a:t>
            </a:r>
            <a:endParaRPr lang="en-US" sz="1100" dirty="0"/>
          </a:p>
        </p:txBody>
      </p:sp>
      <p:sp>
        <p:nvSpPr>
          <p:cNvPr id="8" name="label-Instructor"/>
          <p:cNvSpPr txBox="1"/>
          <p:nvPr/>
        </p:nvSpPr>
        <p:spPr>
          <a:xfrm>
            <a:off x="5303520" y="4846320"/>
            <a:ext cx="2103120" cy="914400"/>
          </a:xfrm>
          <a:prstGeom prst="rect">
            <a:avLst/>
          </a:prstGeom>
          <a:noFill/>
          <a:ln/>
        </p:spPr>
        <p:txBody>
          <a:bodyPr wrap="square" lIns="0" tIns="0" rIns="0" bIns="0" rtlCol="0" anchor="t"/>
          <a:lstStyle/>
          <a:p>
            <a:pPr indent="0" marL="0">
              <a:spcAft>
                <a:spcPts val="400"/>
              </a:spcAft>
              <a:buNone/>
            </a:pPr>
            <a:r>
              <a:rPr lang="en-US" sz="1100" b="1" spc="200" kern="0" dirty="0">
                <a:solidFill>
                  <a:schemeClr val="accent6"/>
                </a:solidFill>
              </a:rPr>
              <a:t>INSTRUCTOR</a:t>
            </a:r>
            <a:endParaRPr lang="en-US" sz="1100" dirty="0"/>
          </a:p>
          <a:p>
            <a:pPr indent="0" marL="0">
              <a:spcAft>
                <a:spcPts val="400"/>
              </a:spcAft>
              <a:buNone/>
            </a:pPr>
            <a:r>
              <a:rPr lang="en-US" sz="1600" dirty="0">
                <a:solidFill>
                  <a:schemeClr val="bg1"/>
                </a:solidFill>
              </a:rPr>
              <a:t>Prof. Subrata Das</a:t>
            </a:r>
            <a:endParaRPr lang="en-US" sz="1100" dirty="0"/>
          </a:p>
        </p:txBody>
      </p:sp>
      <p:sp>
        <p:nvSpPr>
          <p:cNvPr id="9" name="map-ground"/>
          <p:cNvSpPr/>
          <p:nvPr/>
        </p:nvSpPr>
        <p:spPr>
          <a:xfrm>
            <a:off x="8001000" y="1325880"/>
            <a:ext cx="3566160" cy="3566160"/>
          </a:xfrm>
          <a:prstGeom prst="rect">
            <a:avLst/>
          </a:prstGeom>
          <a:solidFill>
            <a:schemeClr val="tx2"/>
          </a:solidFill>
          <a:ln/>
        </p:spPr>
      </p:sp>
      <p:sp>
        <p:nvSpPr>
          <p:cNvPr id="10" name="grid-x2"/>
          <p:cNvSpPr/>
          <p:nvPr/>
        </p:nvSpPr>
        <p:spPr>
          <a:xfrm>
            <a:off x="8357616" y="1325880"/>
            <a:ext cx="0" cy="3566160"/>
          </a:xfrm>
          <a:prstGeom prst="line">
            <a:avLst/>
          </a:prstGeom>
          <a:noFill/>
          <a:ln w="9525">
            <a:solidFill>
              <a:schemeClr val="tx1"/>
            </a:solidFill>
            <a:prstDash val="solid"/>
          </a:ln>
        </p:spPr>
      </p:sp>
      <p:sp>
        <p:nvSpPr>
          <p:cNvPr id="11" name="grid-y2"/>
          <p:cNvSpPr/>
          <p:nvPr/>
        </p:nvSpPr>
        <p:spPr>
          <a:xfrm>
            <a:off x="8001000" y="4535424"/>
            <a:ext cx="3566160" cy="0"/>
          </a:xfrm>
          <a:prstGeom prst="line">
            <a:avLst/>
          </a:prstGeom>
          <a:noFill/>
          <a:ln w="9525">
            <a:solidFill>
              <a:schemeClr val="tx1"/>
            </a:solidFill>
            <a:prstDash val="solid"/>
          </a:ln>
        </p:spPr>
      </p:sp>
      <p:sp>
        <p:nvSpPr>
          <p:cNvPr id="12" name="grid-x4"/>
          <p:cNvSpPr/>
          <p:nvPr/>
        </p:nvSpPr>
        <p:spPr>
          <a:xfrm>
            <a:off x="8714232" y="1325880"/>
            <a:ext cx="0" cy="3566160"/>
          </a:xfrm>
          <a:prstGeom prst="line">
            <a:avLst/>
          </a:prstGeom>
          <a:noFill/>
          <a:ln w="9525">
            <a:solidFill>
              <a:schemeClr val="tx1"/>
            </a:solidFill>
            <a:prstDash val="solid"/>
          </a:ln>
        </p:spPr>
      </p:sp>
      <p:sp>
        <p:nvSpPr>
          <p:cNvPr id="13" name="grid-y4"/>
          <p:cNvSpPr/>
          <p:nvPr/>
        </p:nvSpPr>
        <p:spPr>
          <a:xfrm>
            <a:off x="8001000" y="4178808"/>
            <a:ext cx="3566160" cy="0"/>
          </a:xfrm>
          <a:prstGeom prst="line">
            <a:avLst/>
          </a:prstGeom>
          <a:noFill/>
          <a:ln w="9525">
            <a:solidFill>
              <a:schemeClr val="tx1"/>
            </a:solidFill>
            <a:prstDash val="solid"/>
          </a:ln>
        </p:spPr>
      </p:sp>
      <p:sp>
        <p:nvSpPr>
          <p:cNvPr id="14" name="grid-x6"/>
          <p:cNvSpPr/>
          <p:nvPr/>
        </p:nvSpPr>
        <p:spPr>
          <a:xfrm>
            <a:off x="9070848" y="1325880"/>
            <a:ext cx="0" cy="3566160"/>
          </a:xfrm>
          <a:prstGeom prst="line">
            <a:avLst/>
          </a:prstGeom>
          <a:noFill/>
          <a:ln w="9525">
            <a:solidFill>
              <a:schemeClr val="tx1"/>
            </a:solidFill>
            <a:prstDash val="solid"/>
          </a:ln>
        </p:spPr>
      </p:sp>
      <p:sp>
        <p:nvSpPr>
          <p:cNvPr id="15" name="grid-y6"/>
          <p:cNvSpPr/>
          <p:nvPr/>
        </p:nvSpPr>
        <p:spPr>
          <a:xfrm>
            <a:off x="8001000" y="3822192"/>
            <a:ext cx="3566160" cy="0"/>
          </a:xfrm>
          <a:prstGeom prst="line">
            <a:avLst/>
          </a:prstGeom>
          <a:noFill/>
          <a:ln w="9525">
            <a:solidFill>
              <a:schemeClr val="tx1"/>
            </a:solidFill>
            <a:prstDash val="solid"/>
          </a:ln>
        </p:spPr>
      </p:sp>
      <p:sp>
        <p:nvSpPr>
          <p:cNvPr id="16" name="grid-x8"/>
          <p:cNvSpPr/>
          <p:nvPr/>
        </p:nvSpPr>
        <p:spPr>
          <a:xfrm>
            <a:off x="9427464" y="1325880"/>
            <a:ext cx="0" cy="3566160"/>
          </a:xfrm>
          <a:prstGeom prst="line">
            <a:avLst/>
          </a:prstGeom>
          <a:noFill/>
          <a:ln w="9525">
            <a:solidFill>
              <a:schemeClr val="tx1"/>
            </a:solidFill>
            <a:prstDash val="solid"/>
          </a:ln>
        </p:spPr>
      </p:sp>
      <p:sp>
        <p:nvSpPr>
          <p:cNvPr id="17" name="grid-y8"/>
          <p:cNvSpPr/>
          <p:nvPr/>
        </p:nvSpPr>
        <p:spPr>
          <a:xfrm>
            <a:off x="8001000" y="3465576"/>
            <a:ext cx="3566160" cy="0"/>
          </a:xfrm>
          <a:prstGeom prst="line">
            <a:avLst/>
          </a:prstGeom>
          <a:noFill/>
          <a:ln w="9525">
            <a:solidFill>
              <a:schemeClr val="tx1"/>
            </a:solidFill>
            <a:prstDash val="solid"/>
          </a:ln>
        </p:spPr>
      </p:sp>
      <p:sp>
        <p:nvSpPr>
          <p:cNvPr id="18" name="grid-x10"/>
          <p:cNvSpPr/>
          <p:nvPr/>
        </p:nvSpPr>
        <p:spPr>
          <a:xfrm>
            <a:off x="9784080" y="1325880"/>
            <a:ext cx="0" cy="3566160"/>
          </a:xfrm>
          <a:prstGeom prst="line">
            <a:avLst/>
          </a:prstGeom>
          <a:noFill/>
          <a:ln w="9525">
            <a:solidFill>
              <a:schemeClr val="tx1"/>
            </a:solidFill>
            <a:prstDash val="solid"/>
          </a:ln>
        </p:spPr>
      </p:sp>
      <p:sp>
        <p:nvSpPr>
          <p:cNvPr id="19" name="grid-y10"/>
          <p:cNvSpPr/>
          <p:nvPr/>
        </p:nvSpPr>
        <p:spPr>
          <a:xfrm>
            <a:off x="8001000" y="3108960"/>
            <a:ext cx="3566160" cy="0"/>
          </a:xfrm>
          <a:prstGeom prst="line">
            <a:avLst/>
          </a:prstGeom>
          <a:noFill/>
          <a:ln w="9525">
            <a:solidFill>
              <a:schemeClr val="tx1"/>
            </a:solidFill>
            <a:prstDash val="solid"/>
          </a:ln>
        </p:spPr>
      </p:sp>
      <p:sp>
        <p:nvSpPr>
          <p:cNvPr id="20" name="grid-x12"/>
          <p:cNvSpPr/>
          <p:nvPr/>
        </p:nvSpPr>
        <p:spPr>
          <a:xfrm>
            <a:off x="10140696" y="1325880"/>
            <a:ext cx="0" cy="3566160"/>
          </a:xfrm>
          <a:prstGeom prst="line">
            <a:avLst/>
          </a:prstGeom>
          <a:noFill/>
          <a:ln w="9525">
            <a:solidFill>
              <a:schemeClr val="tx1"/>
            </a:solidFill>
            <a:prstDash val="solid"/>
          </a:ln>
        </p:spPr>
      </p:sp>
      <p:sp>
        <p:nvSpPr>
          <p:cNvPr id="21" name="grid-y12"/>
          <p:cNvSpPr/>
          <p:nvPr/>
        </p:nvSpPr>
        <p:spPr>
          <a:xfrm>
            <a:off x="8001000" y="2752344"/>
            <a:ext cx="3566160" cy="0"/>
          </a:xfrm>
          <a:prstGeom prst="line">
            <a:avLst/>
          </a:prstGeom>
          <a:noFill/>
          <a:ln w="9525">
            <a:solidFill>
              <a:schemeClr val="tx1"/>
            </a:solidFill>
            <a:prstDash val="solid"/>
          </a:ln>
        </p:spPr>
      </p:sp>
      <p:sp>
        <p:nvSpPr>
          <p:cNvPr id="22" name="grid-x14"/>
          <p:cNvSpPr/>
          <p:nvPr/>
        </p:nvSpPr>
        <p:spPr>
          <a:xfrm>
            <a:off x="10497312" y="1325880"/>
            <a:ext cx="0" cy="3566160"/>
          </a:xfrm>
          <a:prstGeom prst="line">
            <a:avLst/>
          </a:prstGeom>
          <a:noFill/>
          <a:ln w="9525">
            <a:solidFill>
              <a:schemeClr val="tx1"/>
            </a:solidFill>
            <a:prstDash val="solid"/>
          </a:ln>
        </p:spPr>
      </p:sp>
      <p:sp>
        <p:nvSpPr>
          <p:cNvPr id="23" name="grid-y14"/>
          <p:cNvSpPr/>
          <p:nvPr/>
        </p:nvSpPr>
        <p:spPr>
          <a:xfrm>
            <a:off x="8001000" y="2395728"/>
            <a:ext cx="3566160" cy="0"/>
          </a:xfrm>
          <a:prstGeom prst="line">
            <a:avLst/>
          </a:prstGeom>
          <a:noFill/>
          <a:ln w="9525">
            <a:solidFill>
              <a:schemeClr val="tx1"/>
            </a:solidFill>
            <a:prstDash val="solid"/>
          </a:ln>
        </p:spPr>
      </p:sp>
      <p:sp>
        <p:nvSpPr>
          <p:cNvPr id="24" name="grid-x16"/>
          <p:cNvSpPr/>
          <p:nvPr/>
        </p:nvSpPr>
        <p:spPr>
          <a:xfrm>
            <a:off x="10853928" y="1325880"/>
            <a:ext cx="0" cy="3566160"/>
          </a:xfrm>
          <a:prstGeom prst="line">
            <a:avLst/>
          </a:prstGeom>
          <a:noFill/>
          <a:ln w="9525">
            <a:solidFill>
              <a:schemeClr val="tx1"/>
            </a:solidFill>
            <a:prstDash val="solid"/>
          </a:ln>
        </p:spPr>
      </p:sp>
      <p:sp>
        <p:nvSpPr>
          <p:cNvPr id="25" name="grid-y16"/>
          <p:cNvSpPr/>
          <p:nvPr/>
        </p:nvSpPr>
        <p:spPr>
          <a:xfrm>
            <a:off x="8001000" y="2039112"/>
            <a:ext cx="3566160" cy="0"/>
          </a:xfrm>
          <a:prstGeom prst="line">
            <a:avLst/>
          </a:prstGeom>
          <a:noFill/>
          <a:ln w="9525">
            <a:solidFill>
              <a:schemeClr val="tx1"/>
            </a:solidFill>
            <a:prstDash val="solid"/>
          </a:ln>
        </p:spPr>
      </p:sp>
      <p:sp>
        <p:nvSpPr>
          <p:cNvPr id="26" name="grid-x18"/>
          <p:cNvSpPr/>
          <p:nvPr/>
        </p:nvSpPr>
        <p:spPr>
          <a:xfrm>
            <a:off x="11210544" y="1325880"/>
            <a:ext cx="0" cy="3566160"/>
          </a:xfrm>
          <a:prstGeom prst="line">
            <a:avLst/>
          </a:prstGeom>
          <a:noFill/>
          <a:ln w="9525">
            <a:solidFill>
              <a:schemeClr val="tx1"/>
            </a:solidFill>
            <a:prstDash val="solid"/>
          </a:ln>
        </p:spPr>
      </p:sp>
      <p:sp>
        <p:nvSpPr>
          <p:cNvPr id="27" name="grid-y18"/>
          <p:cNvSpPr/>
          <p:nvPr/>
        </p:nvSpPr>
        <p:spPr>
          <a:xfrm>
            <a:off x="8001000" y="1682496"/>
            <a:ext cx="3566160" cy="0"/>
          </a:xfrm>
          <a:prstGeom prst="line">
            <a:avLst/>
          </a:prstGeom>
          <a:noFill/>
          <a:ln w="9525">
            <a:solidFill>
              <a:schemeClr val="tx1"/>
            </a:solidFill>
            <a:prstDash val="solid"/>
          </a:ln>
        </p:spPr>
      </p:sp>
      <p:sp>
        <p:nvSpPr>
          <p:cNvPr id="28" name="downtown"/>
          <p:cNvSpPr/>
          <p:nvPr/>
        </p:nvSpPr>
        <p:spPr>
          <a:xfrm>
            <a:off x="8714232" y="2039112"/>
            <a:ext cx="2139696" cy="2139696"/>
          </a:xfrm>
          <a:prstGeom prst="ellipse">
            <a:avLst/>
          </a:prstGeom>
          <a:solidFill>
            <a:schemeClr val="accent2">
              <a:alpha val="12000"/>
            </a:schemeClr>
          </a:solidFill>
          <a:ln/>
        </p:spPr>
      </p:sp>
      <p:sp>
        <p:nvSpPr>
          <p:cNvPr id="29" name="station-S1"/>
          <p:cNvSpPr/>
          <p:nvPr/>
        </p:nvSpPr>
        <p:spPr>
          <a:xfrm>
            <a:off x="8622792" y="1778508"/>
            <a:ext cx="182880" cy="164592"/>
          </a:xfrm>
          <a:prstGeom prst="triangle">
            <a:avLst/>
          </a:prstGeom>
          <a:solidFill>
            <a:schemeClr val="accent6"/>
          </a:solidFill>
          <a:ln/>
        </p:spPr>
      </p:sp>
      <p:sp>
        <p:nvSpPr>
          <p:cNvPr id="30" name="station-S2"/>
          <p:cNvSpPr/>
          <p:nvPr/>
        </p:nvSpPr>
        <p:spPr>
          <a:xfrm>
            <a:off x="9692640" y="3204972"/>
            <a:ext cx="182880" cy="164592"/>
          </a:xfrm>
          <a:prstGeom prst="triangle">
            <a:avLst/>
          </a:prstGeom>
          <a:solidFill>
            <a:schemeClr val="accent6"/>
          </a:solidFill>
          <a:ln/>
        </p:spPr>
      </p:sp>
      <p:sp>
        <p:nvSpPr>
          <p:cNvPr id="31" name="station-S3"/>
          <p:cNvSpPr/>
          <p:nvPr/>
        </p:nvSpPr>
        <p:spPr>
          <a:xfrm>
            <a:off x="10762488" y="3918204"/>
            <a:ext cx="182880" cy="164592"/>
          </a:xfrm>
          <a:prstGeom prst="triangle">
            <a:avLst/>
          </a:prstGeom>
          <a:solidFill>
            <a:schemeClr val="accent6"/>
          </a:solidFill>
          <a:ln/>
        </p:spPr>
      </p:sp>
      <p:sp>
        <p:nvSpPr>
          <p:cNvPr id="32" name="incident-INC-01"/>
          <p:cNvSpPr/>
          <p:nvPr/>
        </p:nvSpPr>
        <p:spPr>
          <a:xfrm>
            <a:off x="9262415" y="3443173"/>
            <a:ext cx="187452" cy="187452"/>
          </a:xfrm>
          <a:prstGeom prst="ellipse">
            <a:avLst/>
          </a:prstGeom>
          <a:solidFill>
            <a:schemeClr val="accent1"/>
          </a:solidFill>
          <a:ln w="12700">
            <a:solidFill>
              <a:schemeClr val="tx2"/>
            </a:solidFill>
            <a:prstDash val="solid"/>
          </a:ln>
        </p:spPr>
      </p:sp>
      <p:sp>
        <p:nvSpPr>
          <p:cNvPr id="33" name="incident-INC-02"/>
          <p:cNvSpPr/>
          <p:nvPr/>
        </p:nvSpPr>
        <p:spPr>
          <a:xfrm>
            <a:off x="8156905" y="3300527"/>
            <a:ext cx="187452" cy="187452"/>
          </a:xfrm>
          <a:prstGeom prst="ellipse">
            <a:avLst/>
          </a:prstGeom>
          <a:solidFill>
            <a:schemeClr val="accent1"/>
          </a:solidFill>
          <a:ln w="12700">
            <a:solidFill>
              <a:schemeClr val="tx2"/>
            </a:solidFill>
            <a:prstDash val="solid"/>
          </a:ln>
        </p:spPr>
      </p:sp>
      <p:sp>
        <p:nvSpPr>
          <p:cNvPr id="34" name="incident-INC-03"/>
          <p:cNvSpPr/>
          <p:nvPr/>
        </p:nvSpPr>
        <p:spPr>
          <a:xfrm>
            <a:off x="8638337" y="4334713"/>
            <a:ext cx="187452" cy="187452"/>
          </a:xfrm>
          <a:prstGeom prst="ellipse">
            <a:avLst/>
          </a:prstGeom>
          <a:solidFill>
            <a:schemeClr val="accent2"/>
          </a:solidFill>
          <a:ln w="12700">
            <a:solidFill>
              <a:schemeClr val="tx2"/>
            </a:solidFill>
            <a:prstDash val="solid"/>
          </a:ln>
        </p:spPr>
      </p:sp>
      <p:sp>
        <p:nvSpPr>
          <p:cNvPr id="35" name="incident-INC-04"/>
          <p:cNvSpPr/>
          <p:nvPr/>
        </p:nvSpPr>
        <p:spPr>
          <a:xfrm>
            <a:off x="8486486" y="2381952"/>
            <a:ext cx="312846" cy="312846"/>
          </a:xfrm>
          <a:prstGeom prst="ellipse">
            <a:avLst/>
          </a:prstGeom>
          <a:solidFill>
            <a:schemeClr val="accent1"/>
          </a:solidFill>
          <a:ln w="12700">
            <a:solidFill>
              <a:schemeClr val="tx2"/>
            </a:solidFill>
            <a:prstDash val="solid"/>
          </a:ln>
        </p:spPr>
      </p:sp>
      <p:sp>
        <p:nvSpPr>
          <p:cNvPr id="36" name="incident-INC-05"/>
          <p:cNvSpPr/>
          <p:nvPr/>
        </p:nvSpPr>
        <p:spPr>
          <a:xfrm>
            <a:off x="9477756" y="3569360"/>
            <a:ext cx="256032" cy="256032"/>
          </a:xfrm>
          <a:prstGeom prst="ellipse">
            <a:avLst/>
          </a:prstGeom>
          <a:solidFill>
            <a:schemeClr val="accent1"/>
          </a:solidFill>
          <a:ln w="12700">
            <a:solidFill>
              <a:schemeClr val="tx2"/>
            </a:solidFill>
            <a:prstDash val="solid"/>
          </a:ln>
        </p:spPr>
      </p:sp>
      <p:sp>
        <p:nvSpPr>
          <p:cNvPr id="37" name="incident-INC-06"/>
          <p:cNvSpPr/>
          <p:nvPr/>
        </p:nvSpPr>
        <p:spPr>
          <a:xfrm>
            <a:off x="9228125" y="2339035"/>
            <a:ext cx="256032" cy="256032"/>
          </a:xfrm>
          <a:prstGeom prst="ellipse">
            <a:avLst/>
          </a:prstGeom>
          <a:solidFill>
            <a:schemeClr val="accent1"/>
          </a:solidFill>
          <a:ln w="12700">
            <a:solidFill>
              <a:schemeClr val="tx2"/>
            </a:solidFill>
            <a:prstDash val="solid"/>
          </a:ln>
        </p:spPr>
      </p:sp>
      <p:sp>
        <p:nvSpPr>
          <p:cNvPr id="38" name="incident-INC-07"/>
          <p:cNvSpPr/>
          <p:nvPr/>
        </p:nvSpPr>
        <p:spPr>
          <a:xfrm>
            <a:off x="9408851" y="2751561"/>
            <a:ext cx="286858" cy="286858"/>
          </a:xfrm>
          <a:prstGeom prst="ellipse">
            <a:avLst/>
          </a:prstGeom>
          <a:solidFill>
            <a:schemeClr val="accent2"/>
          </a:solidFill>
          <a:ln w="12700">
            <a:solidFill>
              <a:schemeClr val="tx2"/>
            </a:solidFill>
            <a:prstDash val="solid"/>
          </a:ln>
        </p:spPr>
      </p:sp>
      <p:sp>
        <p:nvSpPr>
          <p:cNvPr id="39" name="incident-INC-08"/>
          <p:cNvSpPr/>
          <p:nvPr/>
        </p:nvSpPr>
        <p:spPr>
          <a:xfrm>
            <a:off x="9491275" y="3368910"/>
            <a:ext cx="300318" cy="300318"/>
          </a:xfrm>
          <a:prstGeom prst="ellipse">
            <a:avLst/>
          </a:prstGeom>
          <a:solidFill>
            <a:schemeClr val="accent1"/>
          </a:solidFill>
          <a:ln w="12700">
            <a:solidFill>
              <a:schemeClr val="tx2"/>
            </a:solidFill>
            <a:prstDash val="solid"/>
          </a:ln>
        </p:spPr>
      </p:sp>
      <p:sp>
        <p:nvSpPr>
          <p:cNvPr id="40" name="incident-INC-09"/>
          <p:cNvSpPr/>
          <p:nvPr/>
        </p:nvSpPr>
        <p:spPr>
          <a:xfrm>
            <a:off x="9726016" y="3817620"/>
            <a:ext cx="187452" cy="187452"/>
          </a:xfrm>
          <a:prstGeom prst="ellipse">
            <a:avLst/>
          </a:prstGeom>
          <a:solidFill>
            <a:schemeClr val="accent1"/>
          </a:solidFill>
          <a:ln w="12700">
            <a:solidFill>
              <a:schemeClr val="tx2"/>
            </a:solidFill>
            <a:prstDash val="solid"/>
          </a:ln>
        </p:spPr>
      </p:sp>
      <p:sp>
        <p:nvSpPr>
          <p:cNvPr id="41" name="incident-INC-10"/>
          <p:cNvSpPr/>
          <p:nvPr/>
        </p:nvSpPr>
        <p:spPr>
          <a:xfrm>
            <a:off x="9369400" y="1802740"/>
            <a:ext cx="187452" cy="187452"/>
          </a:xfrm>
          <a:prstGeom prst="ellipse">
            <a:avLst/>
          </a:prstGeom>
          <a:solidFill>
            <a:schemeClr val="accent2"/>
          </a:solidFill>
          <a:ln w="12700">
            <a:solidFill>
              <a:schemeClr val="tx2"/>
            </a:solidFill>
            <a:prstDash val="solid"/>
          </a:ln>
        </p:spPr>
      </p:sp>
      <p:sp>
        <p:nvSpPr>
          <p:cNvPr id="42" name="incident-INC-11"/>
          <p:cNvSpPr/>
          <p:nvPr/>
        </p:nvSpPr>
        <p:spPr>
          <a:xfrm>
            <a:off x="10617556" y="2266340"/>
            <a:ext cx="187452" cy="187452"/>
          </a:xfrm>
          <a:prstGeom prst="ellipse">
            <a:avLst/>
          </a:prstGeom>
          <a:solidFill>
            <a:schemeClr val="accent2"/>
          </a:solidFill>
          <a:ln w="12700">
            <a:solidFill>
              <a:schemeClr val="tx2"/>
            </a:solidFill>
            <a:prstDash val="solid"/>
          </a:ln>
        </p:spPr>
      </p:sp>
      <p:sp>
        <p:nvSpPr>
          <p:cNvPr id="43" name="incident-INC-12"/>
          <p:cNvSpPr/>
          <p:nvPr/>
        </p:nvSpPr>
        <p:spPr>
          <a:xfrm>
            <a:off x="9315907" y="3193542"/>
            <a:ext cx="187452" cy="187452"/>
          </a:xfrm>
          <a:prstGeom prst="ellipse">
            <a:avLst/>
          </a:prstGeom>
          <a:solidFill>
            <a:schemeClr val="accent1"/>
          </a:solidFill>
          <a:ln w="12700">
            <a:solidFill>
              <a:schemeClr val="tx2"/>
            </a:solidFill>
            <a:prstDash val="solid"/>
          </a:ln>
        </p:spPr>
      </p:sp>
      <p:sp>
        <p:nvSpPr>
          <p:cNvPr id="44" name="incident-INC-13"/>
          <p:cNvSpPr/>
          <p:nvPr/>
        </p:nvSpPr>
        <p:spPr>
          <a:xfrm>
            <a:off x="10104090" y="2733569"/>
            <a:ext cx="215859" cy="215859"/>
          </a:xfrm>
          <a:prstGeom prst="ellipse">
            <a:avLst/>
          </a:prstGeom>
          <a:solidFill>
            <a:schemeClr val="accent1"/>
          </a:solidFill>
          <a:ln w="12700">
            <a:solidFill>
              <a:schemeClr val="tx2"/>
            </a:solidFill>
            <a:prstDash val="solid"/>
          </a:ln>
        </p:spPr>
      </p:sp>
      <p:sp>
        <p:nvSpPr>
          <p:cNvPr id="45" name="incident-INC-14"/>
          <p:cNvSpPr/>
          <p:nvPr/>
        </p:nvSpPr>
        <p:spPr>
          <a:xfrm>
            <a:off x="8442198" y="4548683"/>
            <a:ext cx="187452" cy="187452"/>
          </a:xfrm>
          <a:prstGeom prst="ellipse">
            <a:avLst/>
          </a:prstGeom>
          <a:solidFill>
            <a:schemeClr val="accent1"/>
          </a:solidFill>
          <a:ln w="12700">
            <a:solidFill>
              <a:schemeClr val="tx2"/>
            </a:solidFill>
            <a:prstDash val="solid"/>
          </a:ln>
        </p:spPr>
      </p:sp>
      <p:sp>
        <p:nvSpPr>
          <p:cNvPr id="46" name="hospital-H1"/>
          <p:cNvSpPr/>
          <p:nvPr/>
        </p:nvSpPr>
        <p:spPr>
          <a:xfrm>
            <a:off x="8915400" y="2329434"/>
            <a:ext cx="310896" cy="310896"/>
          </a:xfrm>
          <a:prstGeom prst="rect">
            <a:avLst/>
          </a:prstGeom>
          <a:solidFill>
            <a:schemeClr val="bg1"/>
          </a:solidFill>
          <a:ln/>
        </p:spPr>
        <p:txBody>
          <a:bodyPr wrap="square" lIns="0" tIns="0" rIns="0" bIns="0" rtlCol="0" anchor="ctr"/>
          <a:lstStyle/>
          <a:p>
            <a:pPr algn="ctr" indent="0" marL="0">
              <a:buNone/>
            </a:pPr>
            <a:r>
              <a:rPr lang="en-US" sz="1000" b="1" dirty="0">
                <a:solidFill>
                  <a:schemeClr val="tx1"/>
                </a:solidFill>
              </a:rPr>
              <a:t>H1</a:t>
            </a:r>
            <a:endParaRPr lang="en-US" sz="1000" dirty="0"/>
          </a:p>
        </p:txBody>
      </p:sp>
      <p:sp>
        <p:nvSpPr>
          <p:cNvPr id="47" name="hospital-H2"/>
          <p:cNvSpPr/>
          <p:nvPr/>
        </p:nvSpPr>
        <p:spPr>
          <a:xfrm>
            <a:off x="10431018" y="2596896"/>
            <a:ext cx="310896" cy="310896"/>
          </a:xfrm>
          <a:prstGeom prst="rect">
            <a:avLst/>
          </a:prstGeom>
          <a:solidFill>
            <a:schemeClr val="bg1"/>
          </a:solidFill>
          <a:ln/>
        </p:spPr>
        <p:txBody>
          <a:bodyPr wrap="square" lIns="0" tIns="0" rIns="0" bIns="0" rtlCol="0" anchor="ctr"/>
          <a:lstStyle/>
          <a:p>
            <a:pPr algn="ctr" indent="0" marL="0">
              <a:buNone/>
            </a:pPr>
            <a:r>
              <a:rPr lang="en-US" sz="1000" b="1" dirty="0">
                <a:solidFill>
                  <a:schemeClr val="tx1"/>
                </a:solidFill>
              </a:rPr>
              <a:t>H2</a:t>
            </a:r>
            <a:endParaRPr lang="en-US" sz="1000" dirty="0"/>
          </a:p>
        </p:txBody>
      </p:sp>
      <p:sp>
        <p:nvSpPr>
          <p:cNvPr id="48" name="hospital-H3"/>
          <p:cNvSpPr/>
          <p:nvPr/>
        </p:nvSpPr>
        <p:spPr>
          <a:xfrm>
            <a:off x="9985248" y="4023360"/>
            <a:ext cx="310896" cy="310896"/>
          </a:xfrm>
          <a:prstGeom prst="rect">
            <a:avLst/>
          </a:prstGeom>
          <a:solidFill>
            <a:schemeClr val="bg1"/>
          </a:solidFill>
          <a:ln/>
        </p:spPr>
        <p:txBody>
          <a:bodyPr wrap="square" lIns="0" tIns="0" rIns="0" bIns="0" rtlCol="0" anchor="ctr"/>
          <a:lstStyle/>
          <a:p>
            <a:pPr algn="ctr" indent="0" marL="0">
              <a:buNone/>
            </a:pPr>
            <a:r>
              <a:rPr lang="en-US" sz="1000" b="1" dirty="0">
                <a:solidFill>
                  <a:schemeClr val="tx1"/>
                </a:solidFill>
              </a:rPr>
              <a:t>H3</a:t>
            </a:r>
            <a:endParaRPr lang="en-US" sz="1000" dirty="0"/>
          </a:p>
        </p:txBody>
      </p:sp>
      <p:sp>
        <p:nvSpPr>
          <p:cNvPr id="49" name="legend-RED"/>
          <p:cNvSpPr/>
          <p:nvPr/>
        </p:nvSpPr>
        <p:spPr>
          <a:xfrm>
            <a:off x="8001000" y="5029200"/>
            <a:ext cx="146304" cy="146304"/>
          </a:xfrm>
          <a:prstGeom prst="ellipse">
            <a:avLst/>
          </a:prstGeom>
          <a:solidFill>
            <a:schemeClr val="accent1"/>
          </a:solidFill>
          <a:ln/>
        </p:spPr>
      </p:sp>
      <p:sp>
        <p:nvSpPr>
          <p:cNvPr id="50" name="Text 48"/>
          <p:cNvSpPr txBox="1"/>
          <p:nvPr/>
        </p:nvSpPr>
        <p:spPr>
          <a:xfrm>
            <a:off x="8202168" y="4983480"/>
            <a:ext cx="640080" cy="237744"/>
          </a:xfrm>
          <a:prstGeom prst="rect">
            <a:avLst/>
          </a:prstGeom>
          <a:noFill/>
          <a:ln/>
        </p:spPr>
        <p:txBody>
          <a:bodyPr wrap="square" lIns="0" tIns="0" rIns="0" bIns="0" rtlCol="0" anchor="ctr"/>
          <a:lstStyle/>
          <a:p>
            <a:pPr indent="0" marL="0">
              <a:buNone/>
            </a:pPr>
            <a:r>
              <a:rPr lang="en-US" sz="1100" dirty="0">
                <a:solidFill>
                  <a:schemeClr val="bg2"/>
                </a:solidFill>
              </a:rPr>
              <a:t>RED</a:t>
            </a:r>
            <a:endParaRPr lang="en-US" sz="1100" dirty="0"/>
          </a:p>
        </p:txBody>
      </p:sp>
      <p:sp>
        <p:nvSpPr>
          <p:cNvPr id="51" name="legend-YELLOW"/>
          <p:cNvSpPr/>
          <p:nvPr/>
        </p:nvSpPr>
        <p:spPr>
          <a:xfrm>
            <a:off x="8627364" y="5029200"/>
            <a:ext cx="146304" cy="146304"/>
          </a:xfrm>
          <a:prstGeom prst="ellipse">
            <a:avLst/>
          </a:prstGeom>
          <a:solidFill>
            <a:schemeClr val="accent2"/>
          </a:solidFill>
          <a:ln/>
        </p:spPr>
      </p:sp>
      <p:sp>
        <p:nvSpPr>
          <p:cNvPr id="52" name="Text 50"/>
          <p:cNvSpPr txBox="1"/>
          <p:nvPr/>
        </p:nvSpPr>
        <p:spPr>
          <a:xfrm>
            <a:off x="8828532" y="4983480"/>
            <a:ext cx="640080" cy="237744"/>
          </a:xfrm>
          <a:prstGeom prst="rect">
            <a:avLst/>
          </a:prstGeom>
          <a:noFill/>
          <a:ln/>
        </p:spPr>
        <p:txBody>
          <a:bodyPr wrap="square" lIns="0" tIns="0" rIns="0" bIns="0" rtlCol="0" anchor="ctr"/>
          <a:lstStyle/>
          <a:p>
            <a:pPr indent="0" marL="0">
              <a:buNone/>
            </a:pPr>
            <a:r>
              <a:rPr lang="en-US" sz="1100" dirty="0">
                <a:solidFill>
                  <a:schemeClr val="bg2"/>
                </a:solidFill>
              </a:rPr>
              <a:t>YELLOW</a:t>
            </a:r>
            <a:endParaRPr lang="en-US" sz="1100" dirty="0"/>
          </a:p>
        </p:txBody>
      </p:sp>
      <p:sp>
        <p:nvSpPr>
          <p:cNvPr id="53" name="legend-GREEN"/>
          <p:cNvSpPr/>
          <p:nvPr/>
        </p:nvSpPr>
        <p:spPr>
          <a:xfrm>
            <a:off x="9514332" y="5029200"/>
            <a:ext cx="146304" cy="146304"/>
          </a:xfrm>
          <a:prstGeom prst="ellipse">
            <a:avLst/>
          </a:prstGeom>
          <a:solidFill>
            <a:schemeClr val="accent3"/>
          </a:solidFill>
          <a:ln/>
        </p:spPr>
      </p:sp>
      <p:sp>
        <p:nvSpPr>
          <p:cNvPr id="54" name="Text 52"/>
          <p:cNvSpPr txBox="1"/>
          <p:nvPr/>
        </p:nvSpPr>
        <p:spPr>
          <a:xfrm>
            <a:off x="9715500" y="4983480"/>
            <a:ext cx="640080" cy="237744"/>
          </a:xfrm>
          <a:prstGeom prst="rect">
            <a:avLst/>
          </a:prstGeom>
          <a:noFill/>
          <a:ln/>
        </p:spPr>
        <p:txBody>
          <a:bodyPr wrap="square" lIns="0" tIns="0" rIns="0" bIns="0" rtlCol="0" anchor="ctr"/>
          <a:lstStyle/>
          <a:p>
            <a:pPr indent="0" marL="0">
              <a:buNone/>
            </a:pPr>
            <a:r>
              <a:rPr lang="en-US" sz="1100" dirty="0">
                <a:solidFill>
                  <a:schemeClr val="bg2"/>
                </a:solidFill>
              </a:rPr>
              <a:t>GREEN</a:t>
            </a:r>
            <a:endParaRPr lang="en-US" sz="1100" dirty="0"/>
          </a:p>
        </p:txBody>
      </p:sp>
      <p:sp>
        <p:nvSpPr>
          <p:cNvPr id="55" name="legend-hospital"/>
          <p:cNvSpPr/>
          <p:nvPr/>
        </p:nvSpPr>
        <p:spPr>
          <a:xfrm>
            <a:off x="10314432" y="5020056"/>
            <a:ext cx="164592" cy="164592"/>
          </a:xfrm>
          <a:prstGeom prst="rect">
            <a:avLst/>
          </a:prstGeom>
          <a:solidFill>
            <a:schemeClr val="bg1"/>
          </a:solidFill>
          <a:ln/>
        </p:spPr>
      </p:sp>
      <p:sp>
        <p:nvSpPr>
          <p:cNvPr id="56" name="Text 54"/>
          <p:cNvSpPr txBox="1"/>
          <p:nvPr/>
        </p:nvSpPr>
        <p:spPr>
          <a:xfrm>
            <a:off x="10543032" y="4983480"/>
            <a:ext cx="640080" cy="237744"/>
          </a:xfrm>
          <a:prstGeom prst="rect">
            <a:avLst/>
          </a:prstGeom>
          <a:noFill/>
          <a:ln/>
        </p:spPr>
        <p:txBody>
          <a:bodyPr wrap="square" lIns="0" tIns="0" rIns="0" bIns="0" rtlCol="0" anchor="ctr"/>
          <a:lstStyle/>
          <a:p>
            <a:pPr indent="0" marL="0">
              <a:buNone/>
            </a:pPr>
            <a:r>
              <a:rPr lang="en-US" sz="1100" dirty="0">
                <a:solidFill>
                  <a:schemeClr val="bg2"/>
                </a:solidFill>
              </a:rPr>
              <a:t>Hospital</a:t>
            </a:r>
            <a:endParaRPr lang="en-US" sz="1100" dirty="0"/>
          </a:p>
        </p:txBody>
      </p:sp>
      <p:sp>
        <p:nvSpPr>
          <p:cNvPr id="57" name="legend-station"/>
          <p:cNvSpPr/>
          <p:nvPr/>
        </p:nvSpPr>
        <p:spPr>
          <a:xfrm>
            <a:off x="11183112" y="5020056"/>
            <a:ext cx="164592" cy="155448"/>
          </a:xfrm>
          <a:prstGeom prst="triangle">
            <a:avLst/>
          </a:prstGeom>
          <a:solidFill>
            <a:schemeClr val="accent6"/>
          </a:solidFill>
          <a:ln/>
        </p:spPr>
      </p:sp>
      <p:sp>
        <p:nvSpPr>
          <p:cNvPr id="58" name="Text 56"/>
          <p:cNvSpPr txBox="1"/>
          <p:nvPr/>
        </p:nvSpPr>
        <p:spPr>
          <a:xfrm>
            <a:off x="11411712" y="4983480"/>
            <a:ext cx="640080" cy="237744"/>
          </a:xfrm>
          <a:prstGeom prst="rect">
            <a:avLst/>
          </a:prstGeom>
          <a:noFill/>
          <a:ln/>
        </p:spPr>
        <p:txBody>
          <a:bodyPr wrap="square" lIns="0" tIns="0" rIns="0" bIns="0" rtlCol="0" anchor="ctr"/>
          <a:lstStyle/>
          <a:p>
            <a:pPr indent="0" marL="0">
              <a:buNone/>
            </a:pPr>
            <a:r>
              <a:rPr lang="en-US" sz="1100" dirty="0">
                <a:solidFill>
                  <a:schemeClr val="bg2"/>
                </a:solidFill>
              </a:rPr>
              <a:t>Station</a:t>
            </a:r>
            <a:endParaRPr lang="en-US" sz="1100" dirty="0"/>
          </a:p>
        </p:txBody>
      </p:sp>
      <p:sp>
        <p:nvSpPr>
          <p:cNvPr id="59" name="Text 57"/>
          <p:cNvSpPr txBox="1"/>
          <p:nvPr/>
        </p:nvSpPr>
        <p:spPr>
          <a:xfrm>
            <a:off x="8001000" y="5349240"/>
            <a:ext cx="3566160" cy="457200"/>
          </a:xfrm>
          <a:prstGeom prst="rect">
            <a:avLst/>
          </a:prstGeom>
          <a:noFill/>
          <a:ln/>
        </p:spPr>
        <p:txBody>
          <a:bodyPr wrap="square" lIns="0" tIns="0" rIns="0" bIns="0" rtlCol="0" anchor="t"/>
          <a:lstStyle/>
          <a:p>
            <a:pPr indent="0" marL="0">
              <a:buNone/>
            </a:pPr>
            <a:r>
              <a:rPr lang="en-US" sz="1100" dirty="0">
                <a:solidFill>
                  <a:schemeClr val="accent6"/>
                </a:solidFill>
              </a:rPr>
              <a:t>Surge scenario from the generated data: 14 incidents, 39 victims, 3 hospitals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21792"/>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Simulation design plan</a:t>
            </a:r>
            <a:endParaRPr lang="en-US" sz="3400" dirty="0"/>
          </a:p>
        </p:txBody>
      </p:sp>
      <p:sp>
        <p:nvSpPr>
          <p:cNvPr id="3" name="Text 0"/>
          <p:cNvSpPr/>
          <p:nvPr>
            <p:ph idx="101" type="body" hasCustomPrompt="1"/>
          </p:nvPr>
        </p:nvSpPr>
        <p:spPr>
          <a:xfrm>
            <a:off x="548640" y="969264"/>
            <a:ext cx="11091672" cy="384048"/>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One rule-checked engine owns the world; four LLM agents propose, negotiate and commit through typed messages</a:t>
            </a:r>
            <a:endParaRPr lang="en-US" sz="1600" dirty="0"/>
          </a:p>
        </p:txBody>
      </p:sp>
      <p:sp>
        <p:nvSpPr>
          <p:cNvPr id="4" name="flow-Synthetic data"/>
          <p:cNvSpPr/>
          <p:nvPr/>
        </p:nvSpPr>
        <p:spPr>
          <a:xfrm>
            <a:off x="548640" y="1554480"/>
            <a:ext cx="1828800" cy="960120"/>
          </a:xfrm>
          <a:prstGeom prst="roundRect">
            <a:avLst>
              <a:gd name="adj" fmla="val 7619"/>
            </a:avLst>
          </a:prstGeom>
          <a:solidFill>
            <a:schemeClr val="bg2"/>
          </a:solidFill>
          <a:ln/>
        </p:spPr>
      </p:sp>
      <p:sp>
        <p:nvSpPr>
          <p:cNvPr id="5" name="disc-data"/>
          <p:cNvSpPr/>
          <p:nvPr/>
        </p:nvSpPr>
        <p:spPr>
          <a:xfrm>
            <a:off x="640080" y="1645920"/>
            <a:ext cx="365760" cy="365760"/>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685800" y="1691640"/>
            <a:ext cx="274320" cy="274320"/>
          </a:xfrm>
          <a:prstGeom prst="rect">
            <a:avLst/>
          </a:prstGeom>
        </p:spPr>
      </p:pic>
      <p:sp>
        <p:nvSpPr>
          <p:cNvPr id="7" name="Text 4"/>
          <p:cNvSpPr txBox="1"/>
          <p:nvPr/>
        </p:nvSpPr>
        <p:spPr>
          <a:xfrm>
            <a:off x="1051560" y="1627632"/>
            <a:ext cx="1234440" cy="841248"/>
          </a:xfrm>
          <a:prstGeom prst="rect">
            <a:avLst/>
          </a:prstGeom>
          <a:noFill/>
          <a:ln/>
        </p:spPr>
        <p:txBody>
          <a:bodyPr wrap="square" lIns="0" tIns="0" rIns="0" bIns="0" rtlCol="0" anchor="t"/>
          <a:lstStyle/>
          <a:p>
            <a:pPr indent="0" marL="0">
              <a:buNone/>
            </a:pPr>
            <a:r>
              <a:rPr lang="en-US" sz="1400" b="1" dirty="0">
                <a:solidFill>
                  <a:schemeClr val="tx1"/>
                </a:solidFill>
              </a:rPr>
              <a:t>Synthetic data</a:t>
            </a:r>
            <a:endParaRPr lang="en-US" sz="1400" dirty="0"/>
          </a:p>
          <a:p>
            <a:pPr indent="0" marL="0">
              <a:buNone/>
            </a:pPr>
            <a:r>
              <a:rPr lang="en-US" sz="1200" dirty="0">
                <a:solidFill>
                  <a:schemeClr val="accent5"/>
                </a:solidFill>
              </a:rPr>
              <a:t>Seeded JSON + CSV, 3 scenarios</a:t>
            </a:r>
            <a:endParaRPr lang="en-US" sz="1400" dirty="0"/>
          </a:p>
        </p:txBody>
      </p:sp>
      <p:sp>
        <p:nvSpPr>
          <p:cNvPr id="8" name="flow-Simulation engine"/>
          <p:cNvSpPr/>
          <p:nvPr/>
        </p:nvSpPr>
        <p:spPr>
          <a:xfrm>
            <a:off x="2651760" y="1554480"/>
            <a:ext cx="2148840" cy="960120"/>
          </a:xfrm>
          <a:prstGeom prst="roundRect">
            <a:avLst>
              <a:gd name="adj" fmla="val 7619"/>
            </a:avLst>
          </a:prstGeom>
          <a:solidFill>
            <a:schemeClr val="tx2"/>
          </a:solidFill>
          <a:ln/>
        </p:spPr>
      </p:sp>
      <p:pic>
        <p:nvPicPr>
          <p:cNvPr id="9" name="Image 1" descr="preencoded.png">    </p:cNvPr>
          <p:cNvPicPr>
            <a:picLocks noChangeAspect="1"/>
          </p:cNvPicPr>
          <p:nvPr/>
        </p:nvPicPr>
        <p:blipFill>
          <a:blip r:embed="rId2"/>
          <a:stretch>
            <a:fillRect/>
          </a:stretch>
        </p:blipFill>
        <p:spPr>
          <a:xfrm>
            <a:off x="2788920" y="1691640"/>
            <a:ext cx="274320" cy="274320"/>
          </a:xfrm>
          <a:prstGeom prst="rect">
            <a:avLst/>
          </a:prstGeom>
        </p:spPr>
      </p:pic>
      <p:sp>
        <p:nvSpPr>
          <p:cNvPr id="10" name="Text 6"/>
          <p:cNvSpPr txBox="1"/>
          <p:nvPr/>
        </p:nvSpPr>
        <p:spPr>
          <a:xfrm>
            <a:off x="3154680" y="1627632"/>
            <a:ext cx="1554480" cy="841248"/>
          </a:xfrm>
          <a:prstGeom prst="rect">
            <a:avLst/>
          </a:prstGeom>
          <a:noFill/>
          <a:ln/>
        </p:spPr>
        <p:txBody>
          <a:bodyPr wrap="square" lIns="0" tIns="0" rIns="0" bIns="0" rtlCol="0" anchor="t"/>
          <a:lstStyle/>
          <a:p>
            <a:pPr indent="0" marL="0">
              <a:buNone/>
            </a:pPr>
            <a:r>
              <a:rPr lang="en-US" sz="1400" b="1" dirty="0">
                <a:solidFill>
                  <a:schemeClr val="bg1"/>
                </a:solidFill>
              </a:rPr>
              <a:t>Simulation engine</a:t>
            </a:r>
            <a:endParaRPr lang="en-US" sz="1400" dirty="0"/>
          </a:p>
          <a:p>
            <a:pPr indent="0" marL="0">
              <a:buNone/>
            </a:pPr>
            <a:r>
              <a:rPr lang="en-US" sz="1200" dirty="0">
                <a:solidFill>
                  <a:schemeClr val="bg2"/>
                </a:solidFill>
              </a:rPr>
              <a:t>1-min ticks; rejects any action that breaks a rule</a:t>
            </a:r>
            <a:endParaRPr lang="en-US" sz="1400" dirty="0"/>
          </a:p>
        </p:txBody>
      </p:sp>
      <p:sp>
        <p:nvSpPr>
          <p:cNvPr id="11" name="flow-Streamlit dashboard"/>
          <p:cNvSpPr/>
          <p:nvPr/>
        </p:nvSpPr>
        <p:spPr>
          <a:xfrm>
            <a:off x="5074920" y="1554480"/>
            <a:ext cx="2240280" cy="960120"/>
          </a:xfrm>
          <a:prstGeom prst="roundRect">
            <a:avLst>
              <a:gd name="adj" fmla="val 7619"/>
            </a:avLst>
          </a:prstGeom>
          <a:solidFill>
            <a:schemeClr val="bg2"/>
          </a:solidFill>
          <a:ln/>
        </p:spPr>
      </p:sp>
      <p:sp>
        <p:nvSpPr>
          <p:cNvPr id="12" name="disc-dash"/>
          <p:cNvSpPr/>
          <p:nvPr/>
        </p:nvSpPr>
        <p:spPr>
          <a:xfrm>
            <a:off x="5166360" y="1645920"/>
            <a:ext cx="365760" cy="365760"/>
          </a:xfrm>
          <a:prstGeom prst="ellipse">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5212080" y="1691640"/>
            <a:ext cx="274320" cy="274320"/>
          </a:xfrm>
          <a:prstGeom prst="rect">
            <a:avLst/>
          </a:prstGeom>
        </p:spPr>
      </p:pic>
      <p:sp>
        <p:nvSpPr>
          <p:cNvPr id="14" name="Text 9"/>
          <p:cNvSpPr txBox="1"/>
          <p:nvPr/>
        </p:nvSpPr>
        <p:spPr>
          <a:xfrm>
            <a:off x="5577840" y="1627632"/>
            <a:ext cx="1645920" cy="841248"/>
          </a:xfrm>
          <a:prstGeom prst="rect">
            <a:avLst/>
          </a:prstGeom>
          <a:noFill/>
          <a:ln/>
        </p:spPr>
        <p:txBody>
          <a:bodyPr wrap="square" lIns="0" tIns="0" rIns="0" bIns="0" rtlCol="0" anchor="t"/>
          <a:lstStyle/>
          <a:p>
            <a:pPr indent="0" marL="0">
              <a:buNone/>
            </a:pPr>
            <a:r>
              <a:rPr lang="en-US" sz="1400" b="1" dirty="0">
                <a:solidFill>
                  <a:schemeClr val="tx1"/>
                </a:solidFill>
              </a:rPr>
              <a:t>Streamlit dashboard</a:t>
            </a:r>
            <a:endParaRPr lang="en-US" sz="1400" dirty="0"/>
          </a:p>
          <a:p>
            <a:pPr indent="0" marL="0">
              <a:buNone/>
            </a:pPr>
            <a:r>
              <a:rPr lang="en-US" sz="1200" dirty="0">
                <a:solidFill>
                  <a:schemeClr val="accent5"/>
                </a:solidFill>
              </a:rPr>
              <a:t>Map, resources, agent activity, negotiation history, KPIs</a:t>
            </a:r>
            <a:endParaRPr lang="en-US" sz="1400" dirty="0"/>
          </a:p>
        </p:txBody>
      </p:sp>
      <p:sp>
        <p:nvSpPr>
          <p:cNvPr id="15" name="arrow-2.62"/>
          <p:cNvSpPr/>
          <p:nvPr/>
        </p:nvSpPr>
        <p:spPr>
          <a:xfrm>
            <a:off x="2395728" y="2034540"/>
            <a:ext cx="237744" cy="0"/>
          </a:xfrm>
          <a:prstGeom prst="line">
            <a:avLst/>
          </a:prstGeom>
          <a:noFill/>
          <a:ln w="19050">
            <a:solidFill>
              <a:schemeClr val="accent5"/>
            </a:solidFill>
            <a:prstDash val="solid"/>
            <a:tailEnd type="triangle"/>
          </a:ln>
        </p:spPr>
      </p:sp>
      <p:sp>
        <p:nvSpPr>
          <p:cNvPr id="16" name="arrow-5.27"/>
          <p:cNvSpPr/>
          <p:nvPr/>
        </p:nvSpPr>
        <p:spPr>
          <a:xfrm>
            <a:off x="4818888" y="2034540"/>
            <a:ext cx="237744" cy="0"/>
          </a:xfrm>
          <a:prstGeom prst="line">
            <a:avLst/>
          </a:prstGeom>
          <a:noFill/>
          <a:ln w="19050">
            <a:solidFill>
              <a:schemeClr val="accent5"/>
            </a:solidFill>
            <a:prstDash val="solid"/>
            <a:tailEnd type="triangle"/>
          </a:ln>
        </p:spPr>
      </p:sp>
      <p:sp>
        <p:nvSpPr>
          <p:cNvPr id="17" name="arrow-tools"/>
          <p:cNvSpPr/>
          <p:nvPr/>
        </p:nvSpPr>
        <p:spPr>
          <a:xfrm>
            <a:off x="3726180" y="2542032"/>
            <a:ext cx="0" cy="310896"/>
          </a:xfrm>
          <a:prstGeom prst="line">
            <a:avLst/>
          </a:prstGeom>
          <a:noFill/>
          <a:ln w="19050">
            <a:solidFill>
              <a:schemeClr val="accent5"/>
            </a:solidFill>
            <a:prstDash val="solid"/>
            <a:headEnd type="triangle"/>
            <a:tailEnd type="triangle"/>
          </a:ln>
        </p:spPr>
      </p:sp>
      <p:sp>
        <p:nvSpPr>
          <p:cNvPr id="18" name="Text 13"/>
          <p:cNvSpPr txBox="1"/>
          <p:nvPr/>
        </p:nvSpPr>
        <p:spPr>
          <a:xfrm>
            <a:off x="3858768" y="2560320"/>
            <a:ext cx="3200400" cy="274320"/>
          </a:xfrm>
          <a:prstGeom prst="rect">
            <a:avLst/>
          </a:prstGeom>
          <a:noFill/>
          <a:ln/>
        </p:spPr>
        <p:txBody>
          <a:bodyPr wrap="square" lIns="0" tIns="0" rIns="0" bIns="0" rtlCol="0" anchor="ctr"/>
          <a:lstStyle/>
          <a:p>
            <a:pPr indent="0" marL="0">
              <a:buNone/>
            </a:pPr>
            <a:r>
              <a:rPr lang="en-US" sz="1100" i="1" dirty="0">
                <a:solidFill>
                  <a:schemeClr val="accent5"/>
                </a:solidFill>
              </a:rPr>
              <a:t>tools: read state · propose · commit</a:t>
            </a:r>
            <a:endParaRPr lang="en-US" sz="1100" dirty="0"/>
          </a:p>
        </p:txBody>
      </p:sp>
      <p:sp>
        <p:nvSpPr>
          <p:cNvPr id="19" name="message-bus"/>
          <p:cNvSpPr/>
          <p:nvPr/>
        </p:nvSpPr>
        <p:spPr>
          <a:xfrm>
            <a:off x="548640" y="2880360"/>
            <a:ext cx="6766560" cy="603504"/>
          </a:xfrm>
          <a:prstGeom prst="roundRect">
            <a:avLst>
              <a:gd name="adj" fmla="val 12121"/>
            </a:avLst>
          </a:prstGeom>
          <a:solidFill>
            <a:schemeClr val="accent4"/>
          </a:solidFill>
          <a:ln/>
        </p:spPr>
        <p:txBody>
          <a:bodyPr wrap="square" lIns="0" tIns="0" rIns="0" bIns="0" rtlCol="0" anchor="ctr"/>
          <a:lstStyle/>
          <a:p>
            <a:pPr algn="ctr" indent="0" marL="0">
              <a:buNone/>
            </a:pPr>
            <a:r>
              <a:rPr lang="en-US" sz="1100" b="1" dirty="0">
                <a:solidFill>
                  <a:schemeClr val="bg1"/>
                </a:solidFill>
              </a:rPr>
              <a:t>Bus: PRIORITY_REPORT · PROPOSE · ACCEPT · REJECT · COUNTER · ESCALATE · COMMIT</a:t>
            </a:r>
            <a:endParaRPr lang="en-US" sz="1100" dirty="0"/>
          </a:p>
          <a:p>
            <a:pPr algn="ctr" indent="0" marL="0">
              <a:buNone/>
            </a:pPr>
            <a:r>
              <a:rPr lang="en-US" sz="1100" i="1" dirty="0">
                <a:solidFill>
                  <a:schemeClr val="bg1"/>
                </a:solidFill>
              </a:rPr>
              <a:t>every message: sender · recipient · type · incident_id · proposed_action · rationale</a:t>
            </a:r>
            <a:endParaRPr lang="en-US" sz="1100" dirty="0"/>
          </a:p>
        </p:txBody>
      </p:sp>
      <p:sp>
        <p:nvSpPr>
          <p:cNvPr id="20" name="agent-card-assess"/>
          <p:cNvSpPr/>
          <p:nvPr/>
        </p:nvSpPr>
        <p:spPr>
          <a:xfrm>
            <a:off x="548640" y="3611880"/>
            <a:ext cx="3291840" cy="1234440"/>
          </a:xfrm>
          <a:prstGeom prst="roundRect">
            <a:avLst>
              <a:gd name="adj" fmla="val 5926"/>
            </a:avLst>
          </a:prstGeom>
          <a:solidFill>
            <a:schemeClr val="bg2"/>
          </a:solidFill>
          <a:ln/>
        </p:spPr>
      </p:sp>
      <p:sp>
        <p:nvSpPr>
          <p:cNvPr id="21" name="agent-disc-assess"/>
          <p:cNvSpPr/>
          <p:nvPr/>
        </p:nvSpPr>
        <p:spPr>
          <a:xfrm>
            <a:off x="685800" y="3749040"/>
            <a:ext cx="502920" cy="502920"/>
          </a:xfrm>
          <a:prstGeom prst="ellipse">
            <a:avLst/>
          </a:prstGeom>
          <a:solidFill>
            <a:schemeClr val="accent4"/>
          </a:solidFill>
          <a:ln/>
        </p:spPr>
      </p:sp>
      <p:pic>
        <p:nvPicPr>
          <p:cNvPr id="22" name="Image 3" descr="preencoded.png">    </p:cNvPr>
          <p:cNvPicPr>
            <a:picLocks noChangeAspect="1"/>
          </p:cNvPicPr>
          <p:nvPr/>
        </p:nvPicPr>
        <p:blipFill>
          <a:blip r:embed="rId4"/>
          <a:stretch>
            <a:fillRect/>
          </a:stretch>
        </p:blipFill>
        <p:spPr>
          <a:xfrm>
            <a:off x="795528" y="3858768"/>
            <a:ext cx="283464" cy="283464"/>
          </a:xfrm>
          <a:prstGeom prst="rect">
            <a:avLst/>
          </a:prstGeom>
        </p:spPr>
      </p:pic>
      <p:sp>
        <p:nvSpPr>
          <p:cNvPr id="23" name="agent-text-assess"/>
          <p:cNvSpPr txBox="1"/>
          <p:nvPr/>
        </p:nvSpPr>
        <p:spPr>
          <a:xfrm>
            <a:off x="1325880" y="3721608"/>
            <a:ext cx="2395728" cy="10972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Incident Assessment</a:t>
            </a:r>
            <a:endParaRPr lang="en-US" sz="1500" dirty="0"/>
          </a:p>
          <a:p>
            <a:pPr indent="0" marL="0">
              <a:spcAft>
                <a:spcPts val="200"/>
              </a:spcAft>
              <a:buNone/>
            </a:pPr>
            <a:r>
              <a:rPr lang="en-US" sz="1300" dirty="0">
                <a:solidFill>
                  <a:schemeClr val="tx2"/>
                </a:solidFill>
              </a:rPr>
              <a:t>Reads caller reports, scores urgency 0–100, estimates the triage mix</a:t>
            </a:r>
            <a:endParaRPr lang="en-US" sz="1500" dirty="0"/>
          </a:p>
          <a:p>
            <a:pPr indent="0" marL="0">
              <a:spcAft>
                <a:spcPts val="200"/>
              </a:spcAft>
              <a:buNone/>
            </a:pPr>
            <a:r>
              <a:rPr lang="en-US" sz="1200" b="1" dirty="0">
                <a:solidFill>
                  <a:schemeClr val="accent1"/>
                </a:solidFill>
              </a:rPr>
              <a:t>Wants: </a:t>
            </a:r>
            <a:pPr indent="0" marL="0">
              <a:spcAft>
                <a:spcPts val="200"/>
              </a:spcAft>
              <a:buNone/>
            </a:pPr>
            <a:r>
              <a:rPr lang="en-US" sz="1200" i="1" dirty="0">
                <a:solidFill>
                  <a:schemeClr val="tx2"/>
                </a:solidFill>
              </a:rPr>
              <a:t>sickest incidents first</a:t>
            </a:r>
            <a:endParaRPr lang="en-US" sz="1500" dirty="0"/>
          </a:p>
        </p:txBody>
      </p:sp>
      <p:sp>
        <p:nvSpPr>
          <p:cNvPr id="24" name="agent-card-dispatch"/>
          <p:cNvSpPr/>
          <p:nvPr/>
        </p:nvSpPr>
        <p:spPr>
          <a:xfrm>
            <a:off x="4023360" y="3611880"/>
            <a:ext cx="3291840" cy="1234440"/>
          </a:xfrm>
          <a:prstGeom prst="roundRect">
            <a:avLst>
              <a:gd name="adj" fmla="val 5926"/>
            </a:avLst>
          </a:prstGeom>
          <a:solidFill>
            <a:schemeClr val="bg2"/>
          </a:solidFill>
          <a:ln/>
        </p:spPr>
      </p:sp>
      <p:sp>
        <p:nvSpPr>
          <p:cNvPr id="25" name="agent-disc-dispatch"/>
          <p:cNvSpPr/>
          <p:nvPr/>
        </p:nvSpPr>
        <p:spPr>
          <a:xfrm>
            <a:off x="4160520" y="3749040"/>
            <a:ext cx="502920" cy="502920"/>
          </a:xfrm>
          <a:prstGeom prst="ellipse">
            <a:avLst/>
          </a:prstGeom>
          <a:solidFill>
            <a:schemeClr val="accent4"/>
          </a:solidFill>
          <a:ln/>
        </p:spPr>
      </p:sp>
      <p:pic>
        <p:nvPicPr>
          <p:cNvPr id="26" name="Image 4" descr="preencoded.png">    </p:cNvPr>
          <p:cNvPicPr>
            <a:picLocks noChangeAspect="1"/>
          </p:cNvPicPr>
          <p:nvPr/>
        </p:nvPicPr>
        <p:blipFill>
          <a:blip r:embed="rId5"/>
          <a:stretch>
            <a:fillRect/>
          </a:stretch>
        </p:blipFill>
        <p:spPr>
          <a:xfrm>
            <a:off x="4270248" y="3858768"/>
            <a:ext cx="283464" cy="283464"/>
          </a:xfrm>
          <a:prstGeom prst="rect">
            <a:avLst/>
          </a:prstGeom>
        </p:spPr>
      </p:pic>
      <p:sp>
        <p:nvSpPr>
          <p:cNvPr id="27" name="agent-text-dispatch"/>
          <p:cNvSpPr txBox="1"/>
          <p:nvPr/>
        </p:nvSpPr>
        <p:spPr>
          <a:xfrm>
            <a:off x="4800600" y="3721608"/>
            <a:ext cx="2395728" cy="10972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Dispatch</a:t>
            </a:r>
            <a:endParaRPr lang="en-US" sz="1500" dirty="0"/>
          </a:p>
          <a:p>
            <a:pPr indent="0" marL="0">
              <a:spcAft>
                <a:spcPts val="200"/>
              </a:spcAft>
              <a:buNone/>
            </a:pPr>
            <a:r>
              <a:rPr lang="en-US" sz="1300" dirty="0">
                <a:solidFill>
                  <a:schemeClr val="tx2"/>
                </a:solidFill>
              </a:rPr>
              <a:t>Assigns ambulances and responder teams by urgency, ETA and availability</a:t>
            </a:r>
            <a:endParaRPr lang="en-US" sz="1500" dirty="0"/>
          </a:p>
          <a:p>
            <a:pPr indent="0" marL="0">
              <a:spcAft>
                <a:spcPts val="200"/>
              </a:spcAft>
              <a:buNone/>
            </a:pPr>
            <a:r>
              <a:rPr lang="en-US" sz="1200" b="1" dirty="0">
                <a:solidFill>
                  <a:schemeClr val="accent1"/>
                </a:solidFill>
              </a:rPr>
              <a:t>Wants: </a:t>
            </a:r>
            <a:pPr indent="0" marL="0">
              <a:spcAft>
                <a:spcPts val="200"/>
              </a:spcAft>
              <a:buNone/>
            </a:pPr>
            <a:r>
              <a:rPr lang="en-US" sz="1200" i="1" dirty="0">
                <a:solidFill>
                  <a:schemeClr val="tx2"/>
                </a:solidFill>
              </a:rPr>
              <a:t>send help now</a:t>
            </a:r>
            <a:endParaRPr lang="en-US" sz="1500" dirty="0"/>
          </a:p>
        </p:txBody>
      </p:sp>
      <p:sp>
        <p:nvSpPr>
          <p:cNvPr id="28" name="agent-card-hospital"/>
          <p:cNvSpPr/>
          <p:nvPr/>
        </p:nvSpPr>
        <p:spPr>
          <a:xfrm>
            <a:off x="548640" y="4983480"/>
            <a:ext cx="3291840" cy="1234440"/>
          </a:xfrm>
          <a:prstGeom prst="roundRect">
            <a:avLst>
              <a:gd name="adj" fmla="val 5926"/>
            </a:avLst>
          </a:prstGeom>
          <a:solidFill>
            <a:schemeClr val="bg2"/>
          </a:solidFill>
          <a:ln/>
        </p:spPr>
      </p:sp>
      <p:sp>
        <p:nvSpPr>
          <p:cNvPr id="29" name="agent-disc-hospital"/>
          <p:cNvSpPr/>
          <p:nvPr/>
        </p:nvSpPr>
        <p:spPr>
          <a:xfrm>
            <a:off x="685800" y="5120640"/>
            <a:ext cx="502920" cy="502920"/>
          </a:xfrm>
          <a:prstGeom prst="ellipse">
            <a:avLst/>
          </a:prstGeom>
          <a:solidFill>
            <a:schemeClr val="accent4"/>
          </a:solidFill>
          <a:ln/>
        </p:spPr>
      </p:sp>
      <p:pic>
        <p:nvPicPr>
          <p:cNvPr id="30" name="Image 5" descr="preencoded.png">    </p:cNvPr>
          <p:cNvPicPr>
            <a:picLocks noChangeAspect="1"/>
          </p:cNvPicPr>
          <p:nvPr/>
        </p:nvPicPr>
        <p:blipFill>
          <a:blip r:embed="rId6"/>
          <a:stretch>
            <a:fillRect/>
          </a:stretch>
        </p:blipFill>
        <p:spPr>
          <a:xfrm>
            <a:off x="795528" y="5230368"/>
            <a:ext cx="283464" cy="283464"/>
          </a:xfrm>
          <a:prstGeom prst="rect">
            <a:avLst/>
          </a:prstGeom>
        </p:spPr>
      </p:pic>
      <p:sp>
        <p:nvSpPr>
          <p:cNvPr id="31" name="agent-text-hospital"/>
          <p:cNvSpPr txBox="1"/>
          <p:nvPr/>
        </p:nvSpPr>
        <p:spPr>
          <a:xfrm>
            <a:off x="1325880" y="5093208"/>
            <a:ext cx="2395728" cy="10972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Hospital Coordination ×3</a:t>
            </a:r>
            <a:endParaRPr lang="en-US" sz="1500" dirty="0"/>
          </a:p>
          <a:p>
            <a:pPr indent="0" marL="0">
              <a:spcAft>
                <a:spcPts val="200"/>
              </a:spcAft>
              <a:buNone/>
            </a:pPr>
            <a:r>
              <a:rPr lang="en-US" sz="1300" dirty="0">
                <a:solidFill>
                  <a:schemeClr val="tx2"/>
                </a:solidFill>
              </a:rPr>
              <a:t>Accepts, rejects or counters each admission; tracks beds and staff</a:t>
            </a:r>
            <a:endParaRPr lang="en-US" sz="1500" dirty="0"/>
          </a:p>
          <a:p>
            <a:pPr indent="0" marL="0">
              <a:spcAft>
                <a:spcPts val="200"/>
              </a:spcAft>
              <a:buNone/>
            </a:pPr>
            <a:r>
              <a:rPr lang="en-US" sz="1200" b="1" dirty="0">
                <a:solidFill>
                  <a:schemeClr val="accent1"/>
                </a:solidFill>
              </a:rPr>
              <a:t>Wants: </a:t>
            </a:r>
            <a:pPr indent="0" marL="0">
              <a:spcAft>
                <a:spcPts val="200"/>
              </a:spcAft>
              <a:buNone/>
            </a:pPr>
            <a:r>
              <a:rPr lang="en-US" sz="1200" i="1" dirty="0">
                <a:solidFill>
                  <a:schemeClr val="tx2"/>
                </a:solidFill>
              </a:rPr>
              <a:t>keep beds free for RED</a:t>
            </a:r>
            <a:endParaRPr lang="en-US" sz="1500" dirty="0"/>
          </a:p>
        </p:txBody>
      </p:sp>
      <p:sp>
        <p:nvSpPr>
          <p:cNvPr id="32" name="agent-card-alloc"/>
          <p:cNvSpPr/>
          <p:nvPr/>
        </p:nvSpPr>
        <p:spPr>
          <a:xfrm>
            <a:off x="4023360" y="4983480"/>
            <a:ext cx="3291840" cy="1234440"/>
          </a:xfrm>
          <a:prstGeom prst="roundRect">
            <a:avLst>
              <a:gd name="adj" fmla="val 5926"/>
            </a:avLst>
          </a:prstGeom>
          <a:solidFill>
            <a:schemeClr val="bg2"/>
          </a:solidFill>
          <a:ln/>
        </p:spPr>
      </p:sp>
      <p:sp>
        <p:nvSpPr>
          <p:cNvPr id="33" name="agent-disc-alloc"/>
          <p:cNvSpPr/>
          <p:nvPr/>
        </p:nvSpPr>
        <p:spPr>
          <a:xfrm>
            <a:off x="4160520" y="5120640"/>
            <a:ext cx="502920" cy="502920"/>
          </a:xfrm>
          <a:prstGeom prst="ellipse">
            <a:avLst/>
          </a:prstGeom>
          <a:solidFill>
            <a:schemeClr val="accent4"/>
          </a:solidFill>
          <a:ln/>
        </p:spPr>
      </p:sp>
      <p:pic>
        <p:nvPicPr>
          <p:cNvPr id="34" name="Image 6" descr="preencoded.png">    </p:cNvPr>
          <p:cNvPicPr>
            <a:picLocks noChangeAspect="1"/>
          </p:cNvPicPr>
          <p:nvPr/>
        </p:nvPicPr>
        <p:blipFill>
          <a:blip r:embed="rId7"/>
          <a:stretch>
            <a:fillRect/>
          </a:stretch>
        </p:blipFill>
        <p:spPr>
          <a:xfrm>
            <a:off x="4270248" y="5230368"/>
            <a:ext cx="283464" cy="283464"/>
          </a:xfrm>
          <a:prstGeom prst="rect">
            <a:avLst/>
          </a:prstGeom>
        </p:spPr>
      </p:pic>
      <p:sp>
        <p:nvSpPr>
          <p:cNvPr id="35" name="agent-text-alloc"/>
          <p:cNvSpPr txBox="1"/>
          <p:nvPr/>
        </p:nvSpPr>
        <p:spPr>
          <a:xfrm>
            <a:off x="4800600" y="5093208"/>
            <a:ext cx="2395728" cy="109728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Resource Allocation</a:t>
            </a:r>
            <a:endParaRPr lang="en-US" sz="1500" dirty="0"/>
          </a:p>
          <a:p>
            <a:pPr indent="0" marL="0">
              <a:spcAft>
                <a:spcPts val="200"/>
              </a:spcAft>
              <a:buNone/>
            </a:pPr>
            <a:r>
              <a:rPr lang="en-US" sz="1300" dirty="0">
                <a:solidFill>
                  <a:schemeClr val="tx2"/>
                </a:solidFill>
              </a:rPr>
              <a:t>Settles clashes; lends float doctors and nurses between hospitals</a:t>
            </a:r>
            <a:endParaRPr lang="en-US" sz="1500" dirty="0"/>
          </a:p>
          <a:p>
            <a:pPr indent="0" marL="0">
              <a:spcAft>
                <a:spcPts val="200"/>
              </a:spcAft>
              <a:buNone/>
            </a:pPr>
            <a:r>
              <a:rPr lang="en-US" sz="1200" b="1" dirty="0">
                <a:solidFill>
                  <a:schemeClr val="accent1"/>
                </a:solidFill>
              </a:rPr>
              <a:t>Wants: </a:t>
            </a:r>
            <a:pPr indent="0" marL="0">
              <a:spcAft>
                <a:spcPts val="200"/>
              </a:spcAft>
              <a:buNone/>
            </a:pPr>
            <a:r>
              <a:rPr lang="en-US" sz="1200" i="1" dirty="0">
                <a:solidFill>
                  <a:schemeClr val="tx2"/>
                </a:solidFill>
              </a:rPr>
              <a:t>most lives saved overall</a:t>
            </a:r>
            <a:endParaRPr lang="en-US" sz="1500" dirty="0"/>
          </a:p>
        </p:txBody>
      </p:sp>
      <p:sp>
        <p:nvSpPr>
          <p:cNvPr id="36" name="Text 27"/>
          <p:cNvSpPr txBox="1"/>
          <p:nvPr/>
        </p:nvSpPr>
        <p:spPr>
          <a:xfrm>
            <a:off x="7726680" y="1645920"/>
            <a:ext cx="3913632" cy="320040"/>
          </a:xfrm>
          <a:prstGeom prst="rect">
            <a:avLst/>
          </a:prstGeom>
          <a:noFill/>
          <a:ln/>
        </p:spPr>
        <p:txBody>
          <a:bodyPr wrap="square" lIns="0" tIns="0" rIns="0" bIns="0" rtlCol="0" anchor="ctr"/>
          <a:lstStyle/>
          <a:p>
            <a:pPr indent="0" marL="0">
              <a:buNone/>
            </a:pPr>
            <a:r>
              <a:rPr lang="en-US" sz="1600" b="1" dirty="0">
                <a:solidFill>
                  <a:schemeClr val="tx1"/>
                </a:solidFill>
              </a:rPr>
              <a:t>How a conflict is resolved</a:t>
            </a:r>
            <a:endParaRPr lang="en-US" sz="1600" dirty="0"/>
          </a:p>
        </p:txBody>
      </p:sp>
      <p:sp>
        <p:nvSpPr>
          <p:cNvPr id="37" name="step-1"/>
          <p:cNvSpPr/>
          <p:nvPr/>
        </p:nvSpPr>
        <p:spPr>
          <a:xfrm>
            <a:off x="7726680" y="2103120"/>
            <a:ext cx="292608" cy="292608"/>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8" name="Text 29"/>
          <p:cNvSpPr txBox="1"/>
          <p:nvPr/>
        </p:nvSpPr>
        <p:spPr>
          <a:xfrm>
            <a:off x="8183880" y="2084832"/>
            <a:ext cx="3456432" cy="411480"/>
          </a:xfrm>
          <a:prstGeom prst="rect">
            <a:avLst/>
          </a:prstGeom>
          <a:noFill/>
          <a:ln/>
        </p:spPr>
        <p:txBody>
          <a:bodyPr wrap="square" lIns="0" tIns="0" rIns="0" bIns="0" rtlCol="0" anchor="t"/>
          <a:lstStyle/>
          <a:p>
            <a:pPr indent="0" marL="0">
              <a:buNone/>
            </a:pPr>
            <a:r>
              <a:rPr lang="en-US" sz="1400" dirty="0">
                <a:solidFill>
                  <a:schemeClr val="tx1"/>
                </a:solidFill>
              </a:rPr>
              <a:t>Assessment posts an urgency score</a:t>
            </a:r>
            <a:endParaRPr lang="en-US" sz="1400" dirty="0"/>
          </a:p>
        </p:txBody>
      </p:sp>
      <p:sp>
        <p:nvSpPr>
          <p:cNvPr id="39" name="step-2"/>
          <p:cNvSpPr/>
          <p:nvPr/>
        </p:nvSpPr>
        <p:spPr>
          <a:xfrm>
            <a:off x="7726680" y="2514600"/>
            <a:ext cx="292608" cy="292608"/>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0" name="Text 31"/>
          <p:cNvSpPr txBox="1"/>
          <p:nvPr/>
        </p:nvSpPr>
        <p:spPr>
          <a:xfrm>
            <a:off x="8183880" y="2496312"/>
            <a:ext cx="3456432" cy="411480"/>
          </a:xfrm>
          <a:prstGeom prst="rect">
            <a:avLst/>
          </a:prstGeom>
          <a:noFill/>
          <a:ln/>
        </p:spPr>
        <p:txBody>
          <a:bodyPr wrap="square" lIns="0" tIns="0" rIns="0" bIns="0" rtlCol="0" anchor="t"/>
          <a:lstStyle/>
          <a:p>
            <a:pPr indent="0" marL="0">
              <a:buNone/>
            </a:pPr>
            <a:r>
              <a:rPr lang="en-US" sz="1400" dirty="0">
                <a:solidFill>
                  <a:schemeClr val="tx1"/>
                </a:solidFill>
              </a:rPr>
              <a:t>Dispatch proposes unit + hospital</a:t>
            </a:r>
            <a:endParaRPr lang="en-US" sz="1400" dirty="0"/>
          </a:p>
        </p:txBody>
      </p:sp>
      <p:sp>
        <p:nvSpPr>
          <p:cNvPr id="41" name="step-3"/>
          <p:cNvSpPr/>
          <p:nvPr/>
        </p:nvSpPr>
        <p:spPr>
          <a:xfrm>
            <a:off x="7726680" y="2926080"/>
            <a:ext cx="292608" cy="292608"/>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2" name="Text 33"/>
          <p:cNvSpPr txBox="1"/>
          <p:nvPr/>
        </p:nvSpPr>
        <p:spPr>
          <a:xfrm>
            <a:off x="8183880" y="2907792"/>
            <a:ext cx="3456432" cy="411480"/>
          </a:xfrm>
          <a:prstGeom prst="rect">
            <a:avLst/>
          </a:prstGeom>
          <a:noFill/>
          <a:ln/>
        </p:spPr>
        <p:txBody>
          <a:bodyPr wrap="square" lIns="0" tIns="0" rIns="0" bIns="0" rtlCol="0" anchor="t"/>
          <a:lstStyle/>
          <a:p>
            <a:pPr indent="0" marL="0">
              <a:buNone/>
            </a:pPr>
            <a:r>
              <a:rPr lang="en-US" sz="1400" dirty="0">
                <a:solidFill>
                  <a:schemeClr val="tx1"/>
                </a:solidFill>
              </a:rPr>
              <a:t>Hospital accepts, rejects or counters</a:t>
            </a:r>
            <a:endParaRPr lang="en-US" sz="1400" dirty="0"/>
          </a:p>
        </p:txBody>
      </p:sp>
      <p:sp>
        <p:nvSpPr>
          <p:cNvPr id="43" name="step-4"/>
          <p:cNvSpPr/>
          <p:nvPr/>
        </p:nvSpPr>
        <p:spPr>
          <a:xfrm>
            <a:off x="7726680" y="3337560"/>
            <a:ext cx="292608" cy="292608"/>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4" name="Text 35"/>
          <p:cNvSpPr txBox="1"/>
          <p:nvPr/>
        </p:nvSpPr>
        <p:spPr>
          <a:xfrm>
            <a:off x="8183880" y="3319272"/>
            <a:ext cx="3456432" cy="868680"/>
          </a:xfrm>
          <a:prstGeom prst="rect">
            <a:avLst/>
          </a:prstGeom>
          <a:noFill/>
          <a:ln/>
        </p:spPr>
        <p:txBody>
          <a:bodyPr wrap="square" lIns="0" tIns="0" rIns="0" bIns="0" rtlCol="0" anchor="t"/>
          <a:lstStyle/>
          <a:p>
            <a:pPr indent="0" marL="0">
              <a:buNone/>
            </a:pPr>
            <a:r>
              <a:rPr lang="en-US" sz="1400" dirty="0">
                <a:solidFill>
                  <a:schemeClr val="tx1"/>
                </a:solidFill>
              </a:rPr>
              <a:t>Clashes escalate; after 3 rounds Resource Allocation decides by a survival-weighted score and commits</a:t>
            </a:r>
            <a:endParaRPr lang="en-US" sz="1400" dirty="0"/>
          </a:p>
        </p:txBody>
      </p:sp>
      <p:sp>
        <p:nvSpPr>
          <p:cNvPr id="45" name="Text 36"/>
          <p:cNvSpPr txBox="1"/>
          <p:nvPr/>
        </p:nvSpPr>
        <p:spPr>
          <a:xfrm>
            <a:off x="7726680" y="4251960"/>
            <a:ext cx="3913632" cy="320040"/>
          </a:xfrm>
          <a:prstGeom prst="rect">
            <a:avLst/>
          </a:prstGeom>
          <a:noFill/>
          <a:ln/>
        </p:spPr>
        <p:txBody>
          <a:bodyPr wrap="square" lIns="0" tIns="0" rIns="0" bIns="0" rtlCol="0" anchor="ctr"/>
          <a:lstStyle/>
          <a:p>
            <a:pPr indent="0" marL="0">
              <a:buNone/>
            </a:pPr>
            <a:r>
              <a:rPr lang="en-US" sz="1600" b="1" dirty="0">
                <a:solidFill>
                  <a:schemeClr val="tx1"/>
                </a:solidFill>
              </a:rPr>
              <a:t>How we will prove it helps</a:t>
            </a:r>
            <a:endParaRPr lang="en-US" sz="1600" dirty="0"/>
          </a:p>
        </p:txBody>
      </p:sp>
      <p:sp>
        <p:nvSpPr>
          <p:cNvPr id="46" name="cond-B0"/>
          <p:cNvSpPr/>
          <p:nvPr/>
        </p:nvSpPr>
        <p:spPr>
          <a:xfrm>
            <a:off x="7726680" y="4663440"/>
            <a:ext cx="548640" cy="274320"/>
          </a:xfrm>
          <a:prstGeom prst="roundRect">
            <a:avLst>
              <a:gd name="adj" fmla="val 20000"/>
            </a:avLst>
          </a:prstGeom>
          <a:solidFill>
            <a:schemeClr val="bg2"/>
          </a:solidFill>
          <a:ln/>
        </p:spPr>
        <p:txBody>
          <a:bodyPr wrap="square" lIns="0" tIns="0" rIns="0" bIns="0" rtlCol="0" anchor="ctr"/>
          <a:lstStyle/>
          <a:p>
            <a:pPr algn="ctr" indent="0" marL="0">
              <a:buNone/>
            </a:pPr>
            <a:r>
              <a:rPr lang="en-US" sz="1200" b="1" dirty="0">
                <a:solidFill>
                  <a:schemeClr val="tx1"/>
                </a:solidFill>
              </a:rPr>
              <a:t>B0</a:t>
            </a:r>
            <a:endParaRPr lang="en-US" sz="1200" dirty="0"/>
          </a:p>
        </p:txBody>
      </p:sp>
      <p:sp>
        <p:nvSpPr>
          <p:cNvPr id="47" name="Text 38"/>
          <p:cNvSpPr txBox="1"/>
          <p:nvPr/>
        </p:nvSpPr>
        <p:spPr>
          <a:xfrm>
            <a:off x="8412480" y="4663440"/>
            <a:ext cx="3200400" cy="274320"/>
          </a:xfrm>
          <a:prstGeom prst="rect">
            <a:avLst/>
          </a:prstGeom>
          <a:noFill/>
          <a:ln/>
        </p:spPr>
        <p:txBody>
          <a:bodyPr wrap="square" lIns="0" tIns="0" rIns="0" bIns="0" rtlCol="0" anchor="ctr"/>
          <a:lstStyle/>
          <a:p>
            <a:pPr indent="0" marL="0">
              <a:buNone/>
            </a:pPr>
            <a:r>
              <a:rPr lang="en-US" sz="1400" dirty="0">
                <a:solidFill>
                  <a:schemeClr val="tx1"/>
                </a:solidFill>
              </a:rPr>
              <a:t>Greedy rules, no messages</a:t>
            </a:r>
            <a:endParaRPr lang="en-US" sz="1400" dirty="0"/>
          </a:p>
        </p:txBody>
      </p:sp>
      <p:sp>
        <p:nvSpPr>
          <p:cNvPr id="48" name="cond-B1"/>
          <p:cNvSpPr/>
          <p:nvPr/>
        </p:nvSpPr>
        <p:spPr>
          <a:xfrm>
            <a:off x="7726680" y="5047488"/>
            <a:ext cx="548640" cy="274320"/>
          </a:xfrm>
          <a:prstGeom prst="roundRect">
            <a:avLst>
              <a:gd name="adj" fmla="val 20000"/>
            </a:avLst>
          </a:prstGeom>
          <a:solidFill>
            <a:schemeClr val="bg2"/>
          </a:solidFill>
          <a:ln/>
        </p:spPr>
        <p:txBody>
          <a:bodyPr wrap="square" lIns="0" tIns="0" rIns="0" bIns="0" rtlCol="0" anchor="ctr"/>
          <a:lstStyle/>
          <a:p>
            <a:pPr algn="ctr" indent="0" marL="0">
              <a:buNone/>
            </a:pPr>
            <a:r>
              <a:rPr lang="en-US" sz="1200" b="1" dirty="0">
                <a:solidFill>
                  <a:schemeClr val="tx1"/>
                </a:solidFill>
              </a:rPr>
              <a:t>B1</a:t>
            </a:r>
            <a:endParaRPr lang="en-US" sz="1200" dirty="0"/>
          </a:p>
        </p:txBody>
      </p:sp>
      <p:sp>
        <p:nvSpPr>
          <p:cNvPr id="49" name="Text 40"/>
          <p:cNvSpPr txBox="1"/>
          <p:nvPr/>
        </p:nvSpPr>
        <p:spPr>
          <a:xfrm>
            <a:off x="8412480" y="5047488"/>
            <a:ext cx="3200400" cy="274320"/>
          </a:xfrm>
          <a:prstGeom prst="rect">
            <a:avLst/>
          </a:prstGeom>
          <a:noFill/>
          <a:ln/>
        </p:spPr>
        <p:txBody>
          <a:bodyPr wrap="square" lIns="0" tIns="0" rIns="0" bIns="0" rtlCol="0" anchor="ctr"/>
          <a:lstStyle/>
          <a:p>
            <a:pPr indent="0" marL="0">
              <a:buNone/>
            </a:pPr>
            <a:r>
              <a:rPr lang="en-US" sz="1400" dirty="0">
                <a:solidFill>
                  <a:schemeClr val="tx1"/>
                </a:solidFill>
              </a:rPr>
              <a:t>Agents, no negotiation</a:t>
            </a:r>
            <a:endParaRPr lang="en-US" sz="1400" dirty="0"/>
          </a:p>
        </p:txBody>
      </p:sp>
      <p:sp>
        <p:nvSpPr>
          <p:cNvPr id="50" name="cond-Full"/>
          <p:cNvSpPr/>
          <p:nvPr/>
        </p:nvSpPr>
        <p:spPr>
          <a:xfrm>
            <a:off x="7726680" y="5431536"/>
            <a:ext cx="548640" cy="274320"/>
          </a:xfrm>
          <a:prstGeom prst="roundRect">
            <a:avLst>
              <a:gd name="adj" fmla="val 2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Full</a:t>
            </a:r>
            <a:endParaRPr lang="en-US" sz="1200" dirty="0"/>
          </a:p>
        </p:txBody>
      </p:sp>
      <p:sp>
        <p:nvSpPr>
          <p:cNvPr id="51" name="Text 42"/>
          <p:cNvSpPr txBox="1"/>
          <p:nvPr/>
        </p:nvSpPr>
        <p:spPr>
          <a:xfrm>
            <a:off x="8412480" y="5431536"/>
            <a:ext cx="3200400" cy="274320"/>
          </a:xfrm>
          <a:prstGeom prst="rect">
            <a:avLst/>
          </a:prstGeom>
          <a:noFill/>
          <a:ln/>
        </p:spPr>
        <p:txBody>
          <a:bodyPr wrap="square" lIns="0" tIns="0" rIns="0" bIns="0" rtlCol="0" anchor="ctr"/>
          <a:lstStyle/>
          <a:p>
            <a:pPr indent="0" marL="0">
              <a:buNone/>
            </a:pPr>
            <a:r>
              <a:rPr lang="en-US" sz="1400" dirty="0">
                <a:solidFill>
                  <a:schemeClr val="tx1"/>
                </a:solidFill>
              </a:rPr>
              <a:t>Agents + negotiation</a:t>
            </a:r>
            <a:endParaRPr lang="en-US" sz="1400" dirty="0"/>
          </a:p>
        </p:txBody>
      </p:sp>
      <p:sp>
        <p:nvSpPr>
          <p:cNvPr id="52" name="Text 43"/>
          <p:cNvSpPr txBox="1"/>
          <p:nvPr/>
        </p:nvSpPr>
        <p:spPr>
          <a:xfrm>
            <a:off x="7726680" y="5760720"/>
            <a:ext cx="3913632" cy="658368"/>
          </a:xfrm>
          <a:prstGeom prst="rect">
            <a:avLst/>
          </a:prstGeom>
          <a:noFill/>
          <a:ln/>
        </p:spPr>
        <p:txBody>
          <a:bodyPr wrap="square" lIns="0" tIns="0" rIns="0" bIns="0" rtlCol="0" anchor="t"/>
          <a:lstStyle/>
          <a:p>
            <a:pPr indent="0" marL="0">
              <a:buNone/>
            </a:pPr>
            <a:r>
              <a:rPr lang="en-US" sz="1200" dirty="0">
                <a:solidFill>
                  <a:schemeClr val="accent5"/>
                </a:solidFill>
              </a:rPr>
              <a:t>Same scenarios for all three; LLM runs repeated over several seeds (mean ± spread). Metrics: response time, RED in golden window, victims served, unserved critical, utilisation, conflicts.</a:t>
            </a:r>
            <a:endParaRPr lang="en-US" sz="12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21792"/>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Synthetic data: generated and validated</a:t>
            </a:r>
            <a:endParaRPr lang="en-US" sz="3400" dirty="0"/>
          </a:p>
        </p:txBody>
      </p:sp>
      <p:sp>
        <p:nvSpPr>
          <p:cNvPr id="3" name="Text 0"/>
          <p:cNvSpPr/>
          <p:nvPr>
            <p:ph idx="101" type="body" hasCustomPrompt="1"/>
          </p:nvPr>
        </p:nvSpPr>
        <p:spPr>
          <a:xfrm>
            <a:off x="548640" y="969264"/>
            <a:ext cx="11091672" cy="384048"/>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Seeded, reproducible scenarios with contention built in, ready for the agents to work on</a:t>
            </a:r>
            <a:endParaRPr lang="en-US" sz="1600" dirty="0"/>
          </a:p>
        </p:txBody>
      </p:sp>
      <p:sp>
        <p:nvSpPr>
          <p:cNvPr id="4" name="map-ground"/>
          <p:cNvSpPr/>
          <p:nvPr/>
        </p:nvSpPr>
        <p:spPr>
          <a:xfrm>
            <a:off x="548640" y="1600200"/>
            <a:ext cx="4023360" cy="4023360"/>
          </a:xfrm>
          <a:prstGeom prst="rect">
            <a:avLst/>
          </a:prstGeom>
          <a:solidFill>
            <a:schemeClr val="bg2"/>
          </a:solidFill>
          <a:ln/>
        </p:spPr>
      </p:sp>
      <p:sp>
        <p:nvSpPr>
          <p:cNvPr id="5" name="grid-x2"/>
          <p:cNvSpPr/>
          <p:nvPr/>
        </p:nvSpPr>
        <p:spPr>
          <a:xfrm>
            <a:off x="950976" y="1600200"/>
            <a:ext cx="0" cy="4023360"/>
          </a:xfrm>
          <a:prstGeom prst="line">
            <a:avLst/>
          </a:prstGeom>
          <a:noFill/>
          <a:ln w="9525">
            <a:solidFill>
              <a:schemeClr val="bg1"/>
            </a:solidFill>
            <a:prstDash val="solid"/>
          </a:ln>
        </p:spPr>
      </p:sp>
      <p:sp>
        <p:nvSpPr>
          <p:cNvPr id="6" name="grid-y2"/>
          <p:cNvSpPr/>
          <p:nvPr/>
        </p:nvSpPr>
        <p:spPr>
          <a:xfrm>
            <a:off x="548640" y="5221224"/>
            <a:ext cx="4023360" cy="0"/>
          </a:xfrm>
          <a:prstGeom prst="line">
            <a:avLst/>
          </a:prstGeom>
          <a:noFill/>
          <a:ln w="9525">
            <a:solidFill>
              <a:schemeClr val="bg1"/>
            </a:solidFill>
            <a:prstDash val="solid"/>
          </a:ln>
        </p:spPr>
      </p:sp>
      <p:sp>
        <p:nvSpPr>
          <p:cNvPr id="7" name="grid-x4"/>
          <p:cNvSpPr/>
          <p:nvPr/>
        </p:nvSpPr>
        <p:spPr>
          <a:xfrm>
            <a:off x="1353312" y="1600200"/>
            <a:ext cx="0" cy="4023360"/>
          </a:xfrm>
          <a:prstGeom prst="line">
            <a:avLst/>
          </a:prstGeom>
          <a:noFill/>
          <a:ln w="9525">
            <a:solidFill>
              <a:schemeClr val="bg1"/>
            </a:solidFill>
            <a:prstDash val="solid"/>
          </a:ln>
        </p:spPr>
      </p:sp>
      <p:sp>
        <p:nvSpPr>
          <p:cNvPr id="8" name="grid-y4"/>
          <p:cNvSpPr/>
          <p:nvPr/>
        </p:nvSpPr>
        <p:spPr>
          <a:xfrm>
            <a:off x="548640" y="4818888"/>
            <a:ext cx="4023360" cy="0"/>
          </a:xfrm>
          <a:prstGeom prst="line">
            <a:avLst/>
          </a:prstGeom>
          <a:noFill/>
          <a:ln w="9525">
            <a:solidFill>
              <a:schemeClr val="bg1"/>
            </a:solidFill>
            <a:prstDash val="solid"/>
          </a:ln>
        </p:spPr>
      </p:sp>
      <p:sp>
        <p:nvSpPr>
          <p:cNvPr id="9" name="grid-x6"/>
          <p:cNvSpPr/>
          <p:nvPr/>
        </p:nvSpPr>
        <p:spPr>
          <a:xfrm>
            <a:off x="1755648" y="1600200"/>
            <a:ext cx="0" cy="4023360"/>
          </a:xfrm>
          <a:prstGeom prst="line">
            <a:avLst/>
          </a:prstGeom>
          <a:noFill/>
          <a:ln w="9525">
            <a:solidFill>
              <a:schemeClr val="bg1"/>
            </a:solidFill>
            <a:prstDash val="solid"/>
          </a:ln>
        </p:spPr>
      </p:sp>
      <p:sp>
        <p:nvSpPr>
          <p:cNvPr id="10" name="grid-y6"/>
          <p:cNvSpPr/>
          <p:nvPr/>
        </p:nvSpPr>
        <p:spPr>
          <a:xfrm>
            <a:off x="548640" y="4416552"/>
            <a:ext cx="4023360" cy="0"/>
          </a:xfrm>
          <a:prstGeom prst="line">
            <a:avLst/>
          </a:prstGeom>
          <a:noFill/>
          <a:ln w="9525">
            <a:solidFill>
              <a:schemeClr val="bg1"/>
            </a:solidFill>
            <a:prstDash val="solid"/>
          </a:ln>
        </p:spPr>
      </p:sp>
      <p:sp>
        <p:nvSpPr>
          <p:cNvPr id="11" name="grid-x8"/>
          <p:cNvSpPr/>
          <p:nvPr/>
        </p:nvSpPr>
        <p:spPr>
          <a:xfrm>
            <a:off x="2157984" y="1600200"/>
            <a:ext cx="0" cy="4023360"/>
          </a:xfrm>
          <a:prstGeom prst="line">
            <a:avLst/>
          </a:prstGeom>
          <a:noFill/>
          <a:ln w="9525">
            <a:solidFill>
              <a:schemeClr val="bg1"/>
            </a:solidFill>
            <a:prstDash val="solid"/>
          </a:ln>
        </p:spPr>
      </p:sp>
      <p:sp>
        <p:nvSpPr>
          <p:cNvPr id="12" name="grid-y8"/>
          <p:cNvSpPr/>
          <p:nvPr/>
        </p:nvSpPr>
        <p:spPr>
          <a:xfrm>
            <a:off x="548640" y="4014216"/>
            <a:ext cx="4023360" cy="0"/>
          </a:xfrm>
          <a:prstGeom prst="line">
            <a:avLst/>
          </a:prstGeom>
          <a:noFill/>
          <a:ln w="9525">
            <a:solidFill>
              <a:schemeClr val="bg1"/>
            </a:solidFill>
            <a:prstDash val="solid"/>
          </a:ln>
        </p:spPr>
      </p:sp>
      <p:sp>
        <p:nvSpPr>
          <p:cNvPr id="13" name="grid-x10"/>
          <p:cNvSpPr/>
          <p:nvPr/>
        </p:nvSpPr>
        <p:spPr>
          <a:xfrm>
            <a:off x="2560320" y="1600200"/>
            <a:ext cx="0" cy="4023360"/>
          </a:xfrm>
          <a:prstGeom prst="line">
            <a:avLst/>
          </a:prstGeom>
          <a:noFill/>
          <a:ln w="9525">
            <a:solidFill>
              <a:schemeClr val="bg1"/>
            </a:solidFill>
            <a:prstDash val="solid"/>
          </a:ln>
        </p:spPr>
      </p:sp>
      <p:sp>
        <p:nvSpPr>
          <p:cNvPr id="14" name="grid-y10"/>
          <p:cNvSpPr/>
          <p:nvPr/>
        </p:nvSpPr>
        <p:spPr>
          <a:xfrm>
            <a:off x="548640" y="3611880"/>
            <a:ext cx="4023360" cy="0"/>
          </a:xfrm>
          <a:prstGeom prst="line">
            <a:avLst/>
          </a:prstGeom>
          <a:noFill/>
          <a:ln w="9525">
            <a:solidFill>
              <a:schemeClr val="bg1"/>
            </a:solidFill>
            <a:prstDash val="solid"/>
          </a:ln>
        </p:spPr>
      </p:sp>
      <p:sp>
        <p:nvSpPr>
          <p:cNvPr id="15" name="grid-x12"/>
          <p:cNvSpPr/>
          <p:nvPr/>
        </p:nvSpPr>
        <p:spPr>
          <a:xfrm>
            <a:off x="2962656" y="1600200"/>
            <a:ext cx="0" cy="4023360"/>
          </a:xfrm>
          <a:prstGeom prst="line">
            <a:avLst/>
          </a:prstGeom>
          <a:noFill/>
          <a:ln w="9525">
            <a:solidFill>
              <a:schemeClr val="bg1"/>
            </a:solidFill>
            <a:prstDash val="solid"/>
          </a:ln>
        </p:spPr>
      </p:sp>
      <p:sp>
        <p:nvSpPr>
          <p:cNvPr id="16" name="grid-y12"/>
          <p:cNvSpPr/>
          <p:nvPr/>
        </p:nvSpPr>
        <p:spPr>
          <a:xfrm>
            <a:off x="548640" y="3209544"/>
            <a:ext cx="4023360" cy="0"/>
          </a:xfrm>
          <a:prstGeom prst="line">
            <a:avLst/>
          </a:prstGeom>
          <a:noFill/>
          <a:ln w="9525">
            <a:solidFill>
              <a:schemeClr val="bg1"/>
            </a:solidFill>
            <a:prstDash val="solid"/>
          </a:ln>
        </p:spPr>
      </p:sp>
      <p:sp>
        <p:nvSpPr>
          <p:cNvPr id="17" name="grid-x14"/>
          <p:cNvSpPr/>
          <p:nvPr/>
        </p:nvSpPr>
        <p:spPr>
          <a:xfrm>
            <a:off x="3364992" y="1600200"/>
            <a:ext cx="0" cy="4023360"/>
          </a:xfrm>
          <a:prstGeom prst="line">
            <a:avLst/>
          </a:prstGeom>
          <a:noFill/>
          <a:ln w="9525">
            <a:solidFill>
              <a:schemeClr val="bg1"/>
            </a:solidFill>
            <a:prstDash val="solid"/>
          </a:ln>
        </p:spPr>
      </p:sp>
      <p:sp>
        <p:nvSpPr>
          <p:cNvPr id="18" name="grid-y14"/>
          <p:cNvSpPr/>
          <p:nvPr/>
        </p:nvSpPr>
        <p:spPr>
          <a:xfrm>
            <a:off x="548640" y="2807208"/>
            <a:ext cx="4023360" cy="0"/>
          </a:xfrm>
          <a:prstGeom prst="line">
            <a:avLst/>
          </a:prstGeom>
          <a:noFill/>
          <a:ln w="9525">
            <a:solidFill>
              <a:schemeClr val="bg1"/>
            </a:solidFill>
            <a:prstDash val="solid"/>
          </a:ln>
        </p:spPr>
      </p:sp>
      <p:sp>
        <p:nvSpPr>
          <p:cNvPr id="19" name="grid-x16"/>
          <p:cNvSpPr/>
          <p:nvPr/>
        </p:nvSpPr>
        <p:spPr>
          <a:xfrm>
            <a:off x="3767328" y="1600200"/>
            <a:ext cx="0" cy="4023360"/>
          </a:xfrm>
          <a:prstGeom prst="line">
            <a:avLst/>
          </a:prstGeom>
          <a:noFill/>
          <a:ln w="9525">
            <a:solidFill>
              <a:schemeClr val="bg1"/>
            </a:solidFill>
            <a:prstDash val="solid"/>
          </a:ln>
        </p:spPr>
      </p:sp>
      <p:sp>
        <p:nvSpPr>
          <p:cNvPr id="20" name="grid-y16"/>
          <p:cNvSpPr/>
          <p:nvPr/>
        </p:nvSpPr>
        <p:spPr>
          <a:xfrm>
            <a:off x="548640" y="2404872"/>
            <a:ext cx="4023360" cy="0"/>
          </a:xfrm>
          <a:prstGeom prst="line">
            <a:avLst/>
          </a:prstGeom>
          <a:noFill/>
          <a:ln w="9525">
            <a:solidFill>
              <a:schemeClr val="bg1"/>
            </a:solidFill>
            <a:prstDash val="solid"/>
          </a:ln>
        </p:spPr>
      </p:sp>
      <p:sp>
        <p:nvSpPr>
          <p:cNvPr id="21" name="grid-x18"/>
          <p:cNvSpPr/>
          <p:nvPr/>
        </p:nvSpPr>
        <p:spPr>
          <a:xfrm>
            <a:off x="4169664" y="1600200"/>
            <a:ext cx="0" cy="4023360"/>
          </a:xfrm>
          <a:prstGeom prst="line">
            <a:avLst/>
          </a:prstGeom>
          <a:noFill/>
          <a:ln w="9525">
            <a:solidFill>
              <a:schemeClr val="bg1"/>
            </a:solidFill>
            <a:prstDash val="solid"/>
          </a:ln>
        </p:spPr>
      </p:sp>
      <p:sp>
        <p:nvSpPr>
          <p:cNvPr id="22" name="grid-y18"/>
          <p:cNvSpPr/>
          <p:nvPr/>
        </p:nvSpPr>
        <p:spPr>
          <a:xfrm>
            <a:off x="548640" y="2002536"/>
            <a:ext cx="4023360" cy="0"/>
          </a:xfrm>
          <a:prstGeom prst="line">
            <a:avLst/>
          </a:prstGeom>
          <a:noFill/>
          <a:ln w="9525">
            <a:solidFill>
              <a:schemeClr val="bg1"/>
            </a:solidFill>
            <a:prstDash val="solid"/>
          </a:ln>
        </p:spPr>
      </p:sp>
      <p:sp>
        <p:nvSpPr>
          <p:cNvPr id="23" name="downtown"/>
          <p:cNvSpPr/>
          <p:nvPr/>
        </p:nvSpPr>
        <p:spPr>
          <a:xfrm>
            <a:off x="1353312" y="2404872"/>
            <a:ext cx="2414016" cy="2414016"/>
          </a:xfrm>
          <a:prstGeom prst="ellipse">
            <a:avLst/>
          </a:prstGeom>
          <a:solidFill>
            <a:schemeClr val="accent2">
              <a:alpha val="16000"/>
            </a:schemeClr>
          </a:solidFill>
          <a:ln/>
        </p:spPr>
      </p:sp>
      <p:sp>
        <p:nvSpPr>
          <p:cNvPr id="24" name="mci-ring"/>
          <p:cNvSpPr/>
          <p:nvPr/>
        </p:nvSpPr>
        <p:spPr>
          <a:xfrm>
            <a:off x="1011326" y="2626157"/>
            <a:ext cx="1548994" cy="1005840"/>
          </a:xfrm>
          <a:prstGeom prst="ellipse">
            <a:avLst/>
          </a:prstGeom>
          <a:solidFill>
            <a:schemeClr val="accent1">
              <a:alpha val="8000"/>
            </a:schemeClr>
          </a:solidFill>
          <a:ln w="15875">
            <a:solidFill>
              <a:schemeClr val="accent1"/>
            </a:solidFill>
            <a:prstDash val="dash"/>
          </a:ln>
        </p:spPr>
      </p:sp>
      <p:sp>
        <p:nvSpPr>
          <p:cNvPr id="25" name="mci-label"/>
          <p:cNvSpPr txBox="1"/>
          <p:nvPr/>
        </p:nvSpPr>
        <p:spPr>
          <a:xfrm>
            <a:off x="2606040" y="1673352"/>
            <a:ext cx="2103120" cy="457200"/>
          </a:xfrm>
          <a:prstGeom prst="rect">
            <a:avLst/>
          </a:prstGeom>
          <a:solidFill>
            <a:schemeClr val="bg1">
              <a:alpha val="85000"/>
            </a:schemeClr>
          </a:solidFill>
          <a:ln/>
        </p:spPr>
        <p:txBody>
          <a:bodyPr wrap="square" lIns="0" tIns="0" rIns="0" bIns="0" rtlCol="0" anchor="t"/>
          <a:lstStyle/>
          <a:p>
            <a:pPr indent="0" marL="0">
              <a:buNone/>
            </a:pPr>
            <a:r>
              <a:rPr lang="en-US" sz="1100" b="1" dirty="0">
                <a:solidFill>
                  <a:schemeClr val="accent1"/>
                </a:solidFill>
              </a:rPr>
              <a:t>Mass-casualty cluster</a:t>
            </a:r>
            <a:endParaRPr lang="en-US" sz="1100" dirty="0"/>
          </a:p>
          <a:p>
            <a:pPr indent="0" marL="0">
              <a:buNone/>
            </a:pPr>
            <a:r>
              <a:rPr lang="en-US" sz="1100" dirty="0">
                <a:solidFill>
                  <a:schemeClr val="tx1"/>
                </a:solidFill>
              </a:rPr>
              <a:t>17 patients (4 RED) in 6 min vs 12 seats, 3 ALS units</a:t>
            </a:r>
            <a:endParaRPr lang="en-US" sz="1100" dirty="0"/>
          </a:p>
        </p:txBody>
      </p:sp>
      <p:sp>
        <p:nvSpPr>
          <p:cNvPr id="26" name="station-S1"/>
          <p:cNvSpPr/>
          <p:nvPr/>
        </p:nvSpPr>
        <p:spPr>
          <a:xfrm>
            <a:off x="1261872" y="2121408"/>
            <a:ext cx="182880" cy="164592"/>
          </a:xfrm>
          <a:prstGeom prst="triangle">
            <a:avLst/>
          </a:prstGeom>
          <a:solidFill>
            <a:schemeClr val="accent5"/>
          </a:solidFill>
          <a:ln/>
        </p:spPr>
      </p:sp>
      <p:sp>
        <p:nvSpPr>
          <p:cNvPr id="27" name="station-S2"/>
          <p:cNvSpPr/>
          <p:nvPr/>
        </p:nvSpPr>
        <p:spPr>
          <a:xfrm>
            <a:off x="2468880" y="3730752"/>
            <a:ext cx="182880" cy="164592"/>
          </a:xfrm>
          <a:prstGeom prst="triangle">
            <a:avLst/>
          </a:prstGeom>
          <a:solidFill>
            <a:schemeClr val="accent5"/>
          </a:solidFill>
          <a:ln/>
        </p:spPr>
      </p:sp>
      <p:sp>
        <p:nvSpPr>
          <p:cNvPr id="28" name="station-S3"/>
          <p:cNvSpPr/>
          <p:nvPr/>
        </p:nvSpPr>
        <p:spPr>
          <a:xfrm>
            <a:off x="3675888" y="4535424"/>
            <a:ext cx="182880" cy="164592"/>
          </a:xfrm>
          <a:prstGeom prst="triangle">
            <a:avLst/>
          </a:prstGeom>
          <a:solidFill>
            <a:schemeClr val="accent5"/>
          </a:solidFill>
          <a:ln/>
        </p:spPr>
      </p:sp>
      <p:sp>
        <p:nvSpPr>
          <p:cNvPr id="29" name="incident-INC-01"/>
          <p:cNvSpPr/>
          <p:nvPr/>
        </p:nvSpPr>
        <p:spPr>
          <a:xfrm>
            <a:off x="1983791" y="4000957"/>
            <a:ext cx="187452" cy="187452"/>
          </a:xfrm>
          <a:prstGeom prst="ellipse">
            <a:avLst/>
          </a:prstGeom>
          <a:solidFill>
            <a:schemeClr val="accent1"/>
          </a:solidFill>
          <a:ln w="12700">
            <a:solidFill>
              <a:schemeClr val="bg1"/>
            </a:solidFill>
            <a:prstDash val="solid"/>
          </a:ln>
        </p:spPr>
      </p:sp>
      <p:sp>
        <p:nvSpPr>
          <p:cNvPr id="30" name="incident-INC-02"/>
          <p:cNvSpPr/>
          <p:nvPr/>
        </p:nvSpPr>
        <p:spPr>
          <a:xfrm>
            <a:off x="736549" y="3840023"/>
            <a:ext cx="187452" cy="187452"/>
          </a:xfrm>
          <a:prstGeom prst="ellipse">
            <a:avLst/>
          </a:prstGeom>
          <a:solidFill>
            <a:schemeClr val="accent1"/>
          </a:solidFill>
          <a:ln w="12700">
            <a:solidFill>
              <a:schemeClr val="bg1"/>
            </a:solidFill>
            <a:prstDash val="solid"/>
          </a:ln>
        </p:spPr>
      </p:sp>
      <p:sp>
        <p:nvSpPr>
          <p:cNvPr id="31" name="incident-INC-03"/>
          <p:cNvSpPr/>
          <p:nvPr/>
        </p:nvSpPr>
        <p:spPr>
          <a:xfrm>
            <a:off x="1279703" y="5006797"/>
            <a:ext cx="187452" cy="187452"/>
          </a:xfrm>
          <a:prstGeom prst="ellipse">
            <a:avLst/>
          </a:prstGeom>
          <a:solidFill>
            <a:schemeClr val="accent2"/>
          </a:solidFill>
          <a:ln w="12700">
            <a:solidFill>
              <a:schemeClr val="bg1"/>
            </a:solidFill>
            <a:prstDash val="solid"/>
          </a:ln>
        </p:spPr>
      </p:sp>
      <p:sp>
        <p:nvSpPr>
          <p:cNvPr id="32" name="incident-INC-04"/>
          <p:cNvSpPr/>
          <p:nvPr/>
        </p:nvSpPr>
        <p:spPr>
          <a:xfrm>
            <a:off x="1116422" y="2811720"/>
            <a:ext cx="312846" cy="312846"/>
          </a:xfrm>
          <a:prstGeom prst="ellipse">
            <a:avLst/>
          </a:prstGeom>
          <a:solidFill>
            <a:schemeClr val="accent1"/>
          </a:solidFill>
          <a:ln w="12700">
            <a:solidFill>
              <a:schemeClr val="bg1"/>
            </a:solidFill>
            <a:prstDash val="solid"/>
          </a:ln>
        </p:spPr>
      </p:sp>
      <p:sp>
        <p:nvSpPr>
          <p:cNvPr id="33" name="incident-INC-05"/>
          <p:cNvSpPr/>
          <p:nvPr/>
        </p:nvSpPr>
        <p:spPr>
          <a:xfrm>
            <a:off x="2231136" y="4147718"/>
            <a:ext cx="256032" cy="256032"/>
          </a:xfrm>
          <a:prstGeom prst="ellipse">
            <a:avLst/>
          </a:prstGeom>
          <a:solidFill>
            <a:schemeClr val="accent1"/>
          </a:solidFill>
          <a:ln w="12700">
            <a:solidFill>
              <a:schemeClr val="bg1"/>
            </a:solidFill>
            <a:prstDash val="solid"/>
          </a:ln>
        </p:spPr>
      </p:sp>
      <p:sp>
        <p:nvSpPr>
          <p:cNvPr id="34" name="incident-INC-06"/>
          <p:cNvSpPr/>
          <p:nvPr/>
        </p:nvSpPr>
        <p:spPr>
          <a:xfrm>
            <a:off x="1949501" y="2759659"/>
            <a:ext cx="256032" cy="256032"/>
          </a:xfrm>
          <a:prstGeom prst="ellipse">
            <a:avLst/>
          </a:prstGeom>
          <a:solidFill>
            <a:schemeClr val="accent1"/>
          </a:solidFill>
          <a:ln w="12700">
            <a:solidFill>
              <a:schemeClr val="bg1"/>
            </a:solidFill>
            <a:prstDash val="solid"/>
          </a:ln>
        </p:spPr>
      </p:sp>
      <p:sp>
        <p:nvSpPr>
          <p:cNvPr id="35" name="incident-INC-07"/>
          <p:cNvSpPr/>
          <p:nvPr/>
        </p:nvSpPr>
        <p:spPr>
          <a:xfrm>
            <a:off x="2155373" y="3227049"/>
            <a:ext cx="286858" cy="286858"/>
          </a:xfrm>
          <a:prstGeom prst="ellipse">
            <a:avLst/>
          </a:prstGeom>
          <a:solidFill>
            <a:schemeClr val="accent2"/>
          </a:solidFill>
          <a:ln w="12700">
            <a:solidFill>
              <a:schemeClr val="bg1"/>
            </a:solidFill>
            <a:prstDash val="solid"/>
          </a:ln>
        </p:spPr>
      </p:sp>
      <p:sp>
        <p:nvSpPr>
          <p:cNvPr id="36" name="incident-INC-08"/>
          <p:cNvSpPr/>
          <p:nvPr/>
        </p:nvSpPr>
        <p:spPr>
          <a:xfrm>
            <a:off x="2249227" y="3924408"/>
            <a:ext cx="300318" cy="300318"/>
          </a:xfrm>
          <a:prstGeom prst="ellipse">
            <a:avLst/>
          </a:prstGeom>
          <a:solidFill>
            <a:schemeClr val="accent1"/>
          </a:solidFill>
          <a:ln w="12700">
            <a:solidFill>
              <a:schemeClr val="bg1"/>
            </a:solidFill>
            <a:prstDash val="solid"/>
          </a:ln>
        </p:spPr>
      </p:sp>
      <p:sp>
        <p:nvSpPr>
          <p:cNvPr id="37" name="incident-INC-09"/>
          <p:cNvSpPr/>
          <p:nvPr/>
        </p:nvSpPr>
        <p:spPr>
          <a:xfrm>
            <a:off x="2506828" y="4423410"/>
            <a:ext cx="187452" cy="187452"/>
          </a:xfrm>
          <a:prstGeom prst="ellipse">
            <a:avLst/>
          </a:prstGeom>
          <a:solidFill>
            <a:schemeClr val="accent1"/>
          </a:solidFill>
          <a:ln w="12700">
            <a:solidFill>
              <a:schemeClr val="bg1"/>
            </a:solidFill>
            <a:prstDash val="solid"/>
          </a:ln>
        </p:spPr>
      </p:sp>
      <p:sp>
        <p:nvSpPr>
          <p:cNvPr id="38" name="incident-INC-10"/>
          <p:cNvSpPr/>
          <p:nvPr/>
        </p:nvSpPr>
        <p:spPr>
          <a:xfrm>
            <a:off x="2104492" y="2150212"/>
            <a:ext cx="187452" cy="187452"/>
          </a:xfrm>
          <a:prstGeom prst="ellipse">
            <a:avLst/>
          </a:prstGeom>
          <a:solidFill>
            <a:schemeClr val="accent2"/>
          </a:solidFill>
          <a:ln w="12700">
            <a:solidFill>
              <a:schemeClr val="bg1"/>
            </a:solidFill>
            <a:prstDash val="solid"/>
          </a:ln>
        </p:spPr>
      </p:sp>
      <p:sp>
        <p:nvSpPr>
          <p:cNvPr id="39" name="incident-INC-11"/>
          <p:cNvSpPr/>
          <p:nvPr/>
        </p:nvSpPr>
        <p:spPr>
          <a:xfrm>
            <a:off x="3512668" y="2673248"/>
            <a:ext cx="187452" cy="187452"/>
          </a:xfrm>
          <a:prstGeom prst="ellipse">
            <a:avLst/>
          </a:prstGeom>
          <a:solidFill>
            <a:schemeClr val="accent2"/>
          </a:solidFill>
          <a:ln w="12700">
            <a:solidFill>
              <a:schemeClr val="bg1"/>
            </a:solidFill>
            <a:prstDash val="solid"/>
          </a:ln>
        </p:spPr>
      </p:sp>
      <p:sp>
        <p:nvSpPr>
          <p:cNvPr id="40" name="incident-INC-12"/>
          <p:cNvSpPr/>
          <p:nvPr/>
        </p:nvSpPr>
        <p:spPr>
          <a:xfrm>
            <a:off x="2044141" y="3719322"/>
            <a:ext cx="187452" cy="187452"/>
          </a:xfrm>
          <a:prstGeom prst="ellipse">
            <a:avLst/>
          </a:prstGeom>
          <a:solidFill>
            <a:schemeClr val="accent1"/>
          </a:solidFill>
          <a:ln w="12700">
            <a:solidFill>
              <a:schemeClr val="bg1"/>
            </a:solidFill>
            <a:prstDash val="solid"/>
          </a:ln>
        </p:spPr>
      </p:sp>
      <p:sp>
        <p:nvSpPr>
          <p:cNvPr id="41" name="incident-INC-13"/>
          <p:cNvSpPr/>
          <p:nvPr/>
        </p:nvSpPr>
        <p:spPr>
          <a:xfrm>
            <a:off x="2935194" y="3202199"/>
            <a:ext cx="215859" cy="215859"/>
          </a:xfrm>
          <a:prstGeom prst="ellipse">
            <a:avLst/>
          </a:prstGeom>
          <a:solidFill>
            <a:schemeClr val="accent1"/>
          </a:solidFill>
          <a:ln w="12700">
            <a:solidFill>
              <a:schemeClr val="bg1"/>
            </a:solidFill>
            <a:prstDash val="solid"/>
          </a:ln>
        </p:spPr>
      </p:sp>
      <p:sp>
        <p:nvSpPr>
          <p:cNvPr id="42" name="incident-INC-14"/>
          <p:cNvSpPr/>
          <p:nvPr/>
        </p:nvSpPr>
        <p:spPr>
          <a:xfrm>
            <a:off x="1058418" y="5248199"/>
            <a:ext cx="187452" cy="187452"/>
          </a:xfrm>
          <a:prstGeom prst="ellipse">
            <a:avLst/>
          </a:prstGeom>
          <a:solidFill>
            <a:schemeClr val="accent1"/>
          </a:solidFill>
          <a:ln w="12700">
            <a:solidFill>
              <a:schemeClr val="bg1"/>
            </a:solidFill>
            <a:prstDash val="solid"/>
          </a:ln>
        </p:spPr>
      </p:sp>
      <p:sp>
        <p:nvSpPr>
          <p:cNvPr id="43" name="hospital-H1"/>
          <p:cNvSpPr/>
          <p:nvPr/>
        </p:nvSpPr>
        <p:spPr>
          <a:xfrm>
            <a:off x="1600200" y="2752344"/>
            <a:ext cx="310896" cy="310896"/>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H1</a:t>
            </a:r>
            <a:endParaRPr lang="en-US" sz="1000" dirty="0"/>
          </a:p>
        </p:txBody>
      </p:sp>
      <p:sp>
        <p:nvSpPr>
          <p:cNvPr id="44" name="hospital-H2"/>
          <p:cNvSpPr/>
          <p:nvPr/>
        </p:nvSpPr>
        <p:spPr>
          <a:xfrm>
            <a:off x="3310128" y="3054096"/>
            <a:ext cx="310896" cy="310896"/>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H2</a:t>
            </a:r>
            <a:endParaRPr lang="en-US" sz="1000" dirty="0"/>
          </a:p>
        </p:txBody>
      </p:sp>
      <p:sp>
        <p:nvSpPr>
          <p:cNvPr id="45" name="hospital-H3"/>
          <p:cNvSpPr/>
          <p:nvPr/>
        </p:nvSpPr>
        <p:spPr>
          <a:xfrm>
            <a:off x="2807208" y="4663440"/>
            <a:ext cx="310896" cy="310896"/>
          </a:xfrm>
          <a:prstGeom prst="rect">
            <a:avLst/>
          </a:prstGeom>
          <a:solidFill>
            <a:schemeClr val="tx1"/>
          </a:solidFill>
          <a:ln/>
        </p:spPr>
        <p:txBody>
          <a:bodyPr wrap="square" lIns="0" tIns="0" rIns="0" bIns="0" rtlCol="0" anchor="ctr"/>
          <a:lstStyle/>
          <a:p>
            <a:pPr algn="ctr" indent="0" marL="0">
              <a:buNone/>
            </a:pPr>
            <a:r>
              <a:rPr lang="en-US" sz="1000" b="1" dirty="0">
                <a:solidFill>
                  <a:schemeClr val="bg1"/>
                </a:solidFill>
              </a:rPr>
              <a:t>H3</a:t>
            </a:r>
            <a:endParaRPr lang="en-US" sz="1000" dirty="0"/>
          </a:p>
        </p:txBody>
      </p:sp>
      <p:sp>
        <p:nvSpPr>
          <p:cNvPr id="46" name="legend-RED"/>
          <p:cNvSpPr/>
          <p:nvPr/>
        </p:nvSpPr>
        <p:spPr>
          <a:xfrm>
            <a:off x="548640" y="5760720"/>
            <a:ext cx="146304" cy="146304"/>
          </a:xfrm>
          <a:prstGeom prst="ellipse">
            <a:avLst/>
          </a:prstGeom>
          <a:solidFill>
            <a:schemeClr val="accent1"/>
          </a:solidFill>
          <a:ln/>
        </p:spPr>
      </p:sp>
      <p:sp>
        <p:nvSpPr>
          <p:cNvPr id="47" name="Text 45"/>
          <p:cNvSpPr txBox="1"/>
          <p:nvPr/>
        </p:nvSpPr>
        <p:spPr>
          <a:xfrm>
            <a:off x="749808" y="5715000"/>
            <a:ext cx="640080" cy="237744"/>
          </a:xfrm>
          <a:prstGeom prst="rect">
            <a:avLst/>
          </a:prstGeom>
          <a:noFill/>
          <a:ln/>
        </p:spPr>
        <p:txBody>
          <a:bodyPr wrap="square" lIns="0" tIns="0" rIns="0" bIns="0" rtlCol="0" anchor="ctr"/>
          <a:lstStyle/>
          <a:p>
            <a:pPr indent="0" marL="0">
              <a:buNone/>
            </a:pPr>
            <a:r>
              <a:rPr lang="en-US" sz="1100" dirty="0">
                <a:solidFill>
                  <a:schemeClr val="tx1"/>
                </a:solidFill>
              </a:rPr>
              <a:t>RED</a:t>
            </a:r>
            <a:endParaRPr lang="en-US" sz="1100" dirty="0"/>
          </a:p>
        </p:txBody>
      </p:sp>
      <p:sp>
        <p:nvSpPr>
          <p:cNvPr id="48" name="legend-YELLOW"/>
          <p:cNvSpPr/>
          <p:nvPr/>
        </p:nvSpPr>
        <p:spPr>
          <a:xfrm>
            <a:off x="1175004" y="5760720"/>
            <a:ext cx="146304" cy="146304"/>
          </a:xfrm>
          <a:prstGeom prst="ellipse">
            <a:avLst/>
          </a:prstGeom>
          <a:solidFill>
            <a:schemeClr val="accent2"/>
          </a:solidFill>
          <a:ln/>
        </p:spPr>
      </p:sp>
      <p:sp>
        <p:nvSpPr>
          <p:cNvPr id="49" name="Text 47"/>
          <p:cNvSpPr txBox="1"/>
          <p:nvPr/>
        </p:nvSpPr>
        <p:spPr>
          <a:xfrm>
            <a:off x="1376172" y="5715000"/>
            <a:ext cx="640080" cy="237744"/>
          </a:xfrm>
          <a:prstGeom prst="rect">
            <a:avLst/>
          </a:prstGeom>
          <a:noFill/>
          <a:ln/>
        </p:spPr>
        <p:txBody>
          <a:bodyPr wrap="square" lIns="0" tIns="0" rIns="0" bIns="0" rtlCol="0" anchor="ctr"/>
          <a:lstStyle/>
          <a:p>
            <a:pPr indent="0" marL="0">
              <a:buNone/>
            </a:pPr>
            <a:r>
              <a:rPr lang="en-US" sz="1100" dirty="0">
                <a:solidFill>
                  <a:schemeClr val="tx1"/>
                </a:solidFill>
              </a:rPr>
              <a:t>YELLOW</a:t>
            </a:r>
            <a:endParaRPr lang="en-US" sz="1100" dirty="0"/>
          </a:p>
        </p:txBody>
      </p:sp>
      <p:sp>
        <p:nvSpPr>
          <p:cNvPr id="50" name="legend-GREEN"/>
          <p:cNvSpPr/>
          <p:nvPr/>
        </p:nvSpPr>
        <p:spPr>
          <a:xfrm>
            <a:off x="2061972" y="5760720"/>
            <a:ext cx="146304" cy="146304"/>
          </a:xfrm>
          <a:prstGeom prst="ellipse">
            <a:avLst/>
          </a:prstGeom>
          <a:solidFill>
            <a:schemeClr val="accent3"/>
          </a:solidFill>
          <a:ln/>
        </p:spPr>
      </p:sp>
      <p:sp>
        <p:nvSpPr>
          <p:cNvPr id="51" name="Text 49"/>
          <p:cNvSpPr txBox="1"/>
          <p:nvPr/>
        </p:nvSpPr>
        <p:spPr>
          <a:xfrm>
            <a:off x="2263140" y="5715000"/>
            <a:ext cx="640080" cy="237744"/>
          </a:xfrm>
          <a:prstGeom prst="rect">
            <a:avLst/>
          </a:prstGeom>
          <a:noFill/>
          <a:ln/>
        </p:spPr>
        <p:txBody>
          <a:bodyPr wrap="square" lIns="0" tIns="0" rIns="0" bIns="0" rtlCol="0" anchor="ctr"/>
          <a:lstStyle/>
          <a:p>
            <a:pPr indent="0" marL="0">
              <a:buNone/>
            </a:pPr>
            <a:r>
              <a:rPr lang="en-US" sz="1100" dirty="0">
                <a:solidFill>
                  <a:schemeClr val="tx1"/>
                </a:solidFill>
              </a:rPr>
              <a:t>GREEN</a:t>
            </a:r>
            <a:endParaRPr lang="en-US" sz="1100" dirty="0"/>
          </a:p>
        </p:txBody>
      </p:sp>
      <p:sp>
        <p:nvSpPr>
          <p:cNvPr id="52" name="legend-hospital"/>
          <p:cNvSpPr/>
          <p:nvPr/>
        </p:nvSpPr>
        <p:spPr>
          <a:xfrm>
            <a:off x="2862072" y="5751576"/>
            <a:ext cx="164592" cy="164592"/>
          </a:xfrm>
          <a:prstGeom prst="rect">
            <a:avLst/>
          </a:prstGeom>
          <a:solidFill>
            <a:schemeClr val="tx1"/>
          </a:solidFill>
          <a:ln/>
        </p:spPr>
      </p:sp>
      <p:sp>
        <p:nvSpPr>
          <p:cNvPr id="53" name="Text 51"/>
          <p:cNvSpPr txBox="1"/>
          <p:nvPr/>
        </p:nvSpPr>
        <p:spPr>
          <a:xfrm>
            <a:off x="3090672" y="5715000"/>
            <a:ext cx="640080" cy="237744"/>
          </a:xfrm>
          <a:prstGeom prst="rect">
            <a:avLst/>
          </a:prstGeom>
          <a:noFill/>
          <a:ln/>
        </p:spPr>
        <p:txBody>
          <a:bodyPr wrap="square" lIns="0" tIns="0" rIns="0" bIns="0" rtlCol="0" anchor="ctr"/>
          <a:lstStyle/>
          <a:p>
            <a:pPr indent="0" marL="0">
              <a:buNone/>
            </a:pPr>
            <a:r>
              <a:rPr lang="en-US" sz="1100" dirty="0">
                <a:solidFill>
                  <a:schemeClr val="tx1"/>
                </a:solidFill>
              </a:rPr>
              <a:t>Hospital</a:t>
            </a:r>
            <a:endParaRPr lang="en-US" sz="1100" dirty="0"/>
          </a:p>
        </p:txBody>
      </p:sp>
      <p:sp>
        <p:nvSpPr>
          <p:cNvPr id="54" name="legend-station"/>
          <p:cNvSpPr/>
          <p:nvPr/>
        </p:nvSpPr>
        <p:spPr>
          <a:xfrm>
            <a:off x="3730752" y="5751576"/>
            <a:ext cx="164592" cy="155448"/>
          </a:xfrm>
          <a:prstGeom prst="triangle">
            <a:avLst/>
          </a:prstGeom>
          <a:solidFill>
            <a:schemeClr val="accent5"/>
          </a:solidFill>
          <a:ln/>
        </p:spPr>
      </p:sp>
      <p:sp>
        <p:nvSpPr>
          <p:cNvPr id="55" name="Text 53"/>
          <p:cNvSpPr txBox="1"/>
          <p:nvPr/>
        </p:nvSpPr>
        <p:spPr>
          <a:xfrm>
            <a:off x="3959352" y="5715000"/>
            <a:ext cx="640080" cy="237744"/>
          </a:xfrm>
          <a:prstGeom prst="rect">
            <a:avLst/>
          </a:prstGeom>
          <a:noFill/>
          <a:ln/>
        </p:spPr>
        <p:txBody>
          <a:bodyPr wrap="square" lIns="0" tIns="0" rIns="0" bIns="0" rtlCol="0" anchor="ctr"/>
          <a:lstStyle/>
          <a:p>
            <a:pPr indent="0" marL="0">
              <a:buNone/>
            </a:pPr>
            <a:r>
              <a:rPr lang="en-US" sz="1100" dirty="0">
                <a:solidFill>
                  <a:schemeClr val="tx1"/>
                </a:solidFill>
              </a:rPr>
              <a:t>Station</a:t>
            </a:r>
            <a:endParaRPr lang="en-US" sz="1100" dirty="0"/>
          </a:p>
        </p:txBody>
      </p:sp>
      <p:sp>
        <p:nvSpPr>
          <p:cNvPr id="56" name="Text 54"/>
          <p:cNvSpPr txBox="1"/>
          <p:nvPr/>
        </p:nvSpPr>
        <p:spPr>
          <a:xfrm>
            <a:off x="548640" y="5989320"/>
            <a:ext cx="4023360" cy="365760"/>
          </a:xfrm>
          <a:prstGeom prst="rect">
            <a:avLst/>
          </a:prstGeom>
          <a:noFill/>
          <a:ln/>
        </p:spPr>
        <p:txBody>
          <a:bodyPr wrap="square" lIns="0" tIns="0" rIns="0" bIns="0" rtlCol="0" anchor="t"/>
          <a:lstStyle/>
          <a:p>
            <a:pPr indent="0" marL="0">
              <a:buNone/>
            </a:pPr>
            <a:r>
              <a:rPr lang="en-US" sz="1100" dirty="0">
                <a:solidFill>
                  <a:schemeClr val="accent5"/>
                </a:solidFill>
              </a:rPr>
              <a:t>Surge scenario, seed 7380, 20 × 20 km grid. Marker size = victims, colour = worst triage. Shaded circle = downtown, travel ×1.5.</a:t>
            </a:r>
            <a:endParaRPr lang="en-US" sz="1100" dirty="0"/>
          </a:p>
        </p:txBody>
      </p:sp>
      <p:sp>
        <p:nvSpPr>
          <p:cNvPr id="57" name="stat-0"/>
          <p:cNvSpPr txBox="1"/>
          <p:nvPr/>
        </p:nvSpPr>
        <p:spPr>
          <a:xfrm>
            <a:off x="5074920" y="1600200"/>
            <a:ext cx="1536192" cy="960120"/>
          </a:xfrm>
          <a:prstGeom prst="rect">
            <a:avLst/>
          </a:prstGeom>
          <a:noFill/>
          <a:ln/>
        </p:spPr>
        <p:txBody>
          <a:bodyPr wrap="square" lIns="0" tIns="0" rIns="0" bIns="0" rtlCol="0" anchor="t"/>
          <a:lstStyle/>
          <a:p>
            <a:pPr indent="0" marL="0">
              <a:buNone/>
            </a:pPr>
            <a:r>
              <a:rPr lang="en-US" sz="3200" b="1" dirty="0">
                <a:solidFill>
                  <a:schemeClr val="tx1"/>
                </a:solidFill>
              </a:rPr>
              <a:t>3</a:t>
            </a:r>
            <a:endParaRPr lang="en-US" sz="3200" dirty="0"/>
          </a:p>
          <a:p>
            <a:pPr indent="0" marL="0">
              <a:buNone/>
            </a:pPr>
            <a:r>
              <a:rPr lang="en-US" sz="1200" dirty="0">
                <a:solidFill>
                  <a:schemeClr val="accent5"/>
                </a:solidFill>
              </a:rPr>
              <a:t>scenarios that share incidents, so results compare</a:t>
            </a:r>
            <a:endParaRPr lang="en-US" sz="3200" dirty="0"/>
          </a:p>
        </p:txBody>
      </p:sp>
      <p:sp>
        <p:nvSpPr>
          <p:cNvPr id="58" name="stat-1"/>
          <p:cNvSpPr txBox="1"/>
          <p:nvPr/>
        </p:nvSpPr>
        <p:spPr>
          <a:xfrm>
            <a:off x="6748272" y="1600200"/>
            <a:ext cx="1536192" cy="960120"/>
          </a:xfrm>
          <a:prstGeom prst="rect">
            <a:avLst/>
          </a:prstGeom>
          <a:noFill/>
          <a:ln/>
        </p:spPr>
        <p:txBody>
          <a:bodyPr wrap="square" lIns="0" tIns="0" rIns="0" bIns="0" rtlCol="0" anchor="t"/>
          <a:lstStyle/>
          <a:p>
            <a:pPr indent="0" marL="0">
              <a:buNone/>
            </a:pPr>
            <a:r>
              <a:rPr lang="en-US" sz="3200" b="1" dirty="0">
                <a:solidFill>
                  <a:schemeClr val="tx1"/>
                </a:solidFill>
              </a:rPr>
              <a:t>14</a:t>
            </a:r>
            <a:endParaRPr lang="en-US" sz="3200" dirty="0"/>
          </a:p>
          <a:p>
            <a:pPr indent="0" marL="0">
              <a:buNone/>
            </a:pPr>
            <a:r>
              <a:rPr lang="en-US" sz="1200" dirty="0">
                <a:solidFill>
                  <a:schemeClr val="accent5"/>
                </a:solidFill>
              </a:rPr>
              <a:t>incidents in surge (11 base + 3 cluster)</a:t>
            </a:r>
            <a:endParaRPr lang="en-US" sz="3200" dirty="0"/>
          </a:p>
        </p:txBody>
      </p:sp>
      <p:sp>
        <p:nvSpPr>
          <p:cNvPr id="59" name="stat-2"/>
          <p:cNvSpPr txBox="1"/>
          <p:nvPr/>
        </p:nvSpPr>
        <p:spPr>
          <a:xfrm>
            <a:off x="8421624" y="1600200"/>
            <a:ext cx="1536192" cy="960120"/>
          </a:xfrm>
          <a:prstGeom prst="rect">
            <a:avLst/>
          </a:prstGeom>
          <a:noFill/>
          <a:ln/>
        </p:spPr>
        <p:txBody>
          <a:bodyPr wrap="square" lIns="0" tIns="0" rIns="0" bIns="0" rtlCol="0" anchor="t"/>
          <a:lstStyle/>
          <a:p>
            <a:pPr indent="0" marL="0">
              <a:buNone/>
            </a:pPr>
            <a:r>
              <a:rPr lang="en-US" sz="3200" b="1" dirty="0">
                <a:solidFill>
                  <a:schemeClr val="tx1"/>
                </a:solidFill>
              </a:rPr>
              <a:t>39</a:t>
            </a:r>
            <a:endParaRPr lang="en-US" sz="3200" dirty="0"/>
          </a:p>
          <a:p>
            <a:pPr indent="0" marL="0">
              <a:buNone/>
            </a:pPr>
            <a:r>
              <a:rPr lang="en-US" sz="1200" dirty="0">
                <a:solidFill>
                  <a:schemeClr val="accent5"/>
                </a:solidFill>
              </a:rPr>
              <a:t>surge victims with START triage</a:t>
            </a:r>
            <a:endParaRPr lang="en-US" sz="3200" dirty="0"/>
          </a:p>
        </p:txBody>
      </p:sp>
      <p:sp>
        <p:nvSpPr>
          <p:cNvPr id="60" name="stat-3"/>
          <p:cNvSpPr txBox="1"/>
          <p:nvPr/>
        </p:nvSpPr>
        <p:spPr>
          <a:xfrm>
            <a:off x="10094976" y="1600200"/>
            <a:ext cx="1536192" cy="960120"/>
          </a:xfrm>
          <a:prstGeom prst="rect">
            <a:avLst/>
          </a:prstGeom>
          <a:noFill/>
          <a:ln/>
        </p:spPr>
        <p:txBody>
          <a:bodyPr wrap="square" lIns="0" tIns="0" rIns="0" bIns="0" rtlCol="0" anchor="t"/>
          <a:lstStyle/>
          <a:p>
            <a:pPr indent="0" marL="0">
              <a:buNone/>
            </a:pPr>
            <a:r>
              <a:rPr lang="en-US" sz="3200" b="1" dirty="0">
                <a:solidFill>
                  <a:schemeClr val="accent3"/>
                </a:solidFill>
              </a:rPr>
              <a:t>56/56</a:t>
            </a:r>
            <a:endParaRPr lang="en-US" sz="3200" dirty="0"/>
          </a:p>
          <a:p>
            <a:pPr indent="0" marL="0">
              <a:buNone/>
            </a:pPr>
            <a:r>
              <a:rPr lang="en-US" sz="1200" dirty="0">
                <a:solidFill>
                  <a:schemeClr val="accent5"/>
                </a:solidFill>
              </a:rPr>
              <a:t>validation checks pass</a:t>
            </a:r>
            <a:endParaRPr lang="en-US" sz="3200" dirty="0"/>
          </a:p>
        </p:txBody>
      </p:sp>
      <p:sp>
        <p:nvSpPr>
          <p:cNvPr id="61" name="Text 59"/>
          <p:cNvSpPr txBox="1"/>
          <p:nvPr/>
        </p:nvSpPr>
        <p:spPr>
          <a:xfrm>
            <a:off x="5074920" y="2743200"/>
            <a:ext cx="6565392" cy="320040"/>
          </a:xfrm>
          <a:prstGeom prst="rect">
            <a:avLst/>
          </a:prstGeom>
          <a:noFill/>
          <a:ln/>
        </p:spPr>
        <p:txBody>
          <a:bodyPr wrap="square" lIns="0" tIns="0" rIns="0" bIns="0" rtlCol="0" anchor="ctr"/>
          <a:lstStyle/>
          <a:p>
            <a:pPr indent="0" marL="0">
              <a:buNone/>
            </a:pPr>
            <a:r>
              <a:rPr lang="en-US" sz="1600" b="1" dirty="0">
                <a:solidFill>
                  <a:schemeClr val="tx1"/>
                </a:solidFill>
              </a:rPr>
              <a:t>Data pipeline</a:t>
            </a:r>
            <a:endParaRPr lang="en-US" sz="1600" dirty="0"/>
          </a:p>
        </p:txBody>
      </p:sp>
      <p:sp>
        <p:nvSpPr>
          <p:cNvPr id="62" name="pipe-done-0"/>
          <p:cNvSpPr/>
          <p:nvPr/>
        </p:nvSpPr>
        <p:spPr>
          <a:xfrm>
            <a:off x="5074920" y="3154680"/>
            <a:ext cx="237744" cy="237744"/>
          </a:xfrm>
          <a:prstGeom prst="ellipse">
            <a:avLst/>
          </a:prstGeom>
          <a:solidFill>
            <a:schemeClr val="accent3"/>
          </a:solidFill>
          <a:ln/>
        </p:spPr>
      </p:sp>
      <p:pic>
        <p:nvPicPr>
          <p:cNvPr id="63" name="Image 0" descr="preencoded.png">    </p:cNvPr>
          <p:cNvPicPr>
            <a:picLocks noChangeAspect="1"/>
          </p:cNvPicPr>
          <p:nvPr/>
        </p:nvPicPr>
        <p:blipFill>
          <a:blip r:embed="rId1"/>
          <a:stretch>
            <a:fillRect/>
          </a:stretch>
        </p:blipFill>
        <p:spPr>
          <a:xfrm>
            <a:off x="5120640" y="3200400"/>
            <a:ext cx="146304" cy="146304"/>
          </a:xfrm>
          <a:prstGeom prst="rect">
            <a:avLst/>
          </a:prstGeom>
        </p:spPr>
      </p:pic>
      <p:sp>
        <p:nvSpPr>
          <p:cNvPr id="64" name="Text 61"/>
          <p:cNvSpPr txBox="1"/>
          <p:nvPr/>
        </p:nvSpPr>
        <p:spPr>
          <a:xfrm>
            <a:off x="5422392" y="3127248"/>
            <a:ext cx="2926080" cy="292608"/>
          </a:xfrm>
          <a:prstGeom prst="rect">
            <a:avLst/>
          </a:prstGeom>
          <a:noFill/>
          <a:ln/>
        </p:spPr>
        <p:txBody>
          <a:bodyPr wrap="square" lIns="0" tIns="0" rIns="0" bIns="0" rtlCol="0" anchor="ctr"/>
          <a:lstStyle/>
          <a:p>
            <a:pPr indent="0" marL="0">
              <a:buNone/>
            </a:pPr>
            <a:r>
              <a:rPr lang="en-US" sz="1400" dirty="0">
                <a:solidFill>
                  <a:schemeClr val="tx1"/>
                </a:solidFill>
              </a:rPr>
              <a:t>Schema: 7 entity types, fixed city</a:t>
            </a:r>
            <a:endParaRPr lang="en-US" sz="1400" dirty="0"/>
          </a:p>
        </p:txBody>
      </p:sp>
      <p:sp>
        <p:nvSpPr>
          <p:cNvPr id="65" name="pipe-done-1"/>
          <p:cNvSpPr/>
          <p:nvPr/>
        </p:nvSpPr>
        <p:spPr>
          <a:xfrm>
            <a:off x="8412480" y="3154680"/>
            <a:ext cx="237744" cy="237744"/>
          </a:xfrm>
          <a:prstGeom prst="ellipse">
            <a:avLst/>
          </a:prstGeom>
          <a:solidFill>
            <a:schemeClr val="accent3"/>
          </a:solidFill>
          <a:ln/>
        </p:spPr>
      </p:sp>
      <p:pic>
        <p:nvPicPr>
          <p:cNvPr id="66" name="Image 1" descr="preencoded.png">    </p:cNvPr>
          <p:cNvPicPr>
            <a:picLocks noChangeAspect="1"/>
          </p:cNvPicPr>
          <p:nvPr/>
        </p:nvPicPr>
        <p:blipFill>
          <a:blip r:embed="rId2"/>
          <a:stretch>
            <a:fillRect/>
          </a:stretch>
        </p:blipFill>
        <p:spPr>
          <a:xfrm>
            <a:off x="8458200" y="3200400"/>
            <a:ext cx="146304" cy="146304"/>
          </a:xfrm>
          <a:prstGeom prst="rect">
            <a:avLst/>
          </a:prstGeom>
        </p:spPr>
      </p:pic>
      <p:sp>
        <p:nvSpPr>
          <p:cNvPr id="67" name="Text 63"/>
          <p:cNvSpPr txBox="1"/>
          <p:nvPr/>
        </p:nvSpPr>
        <p:spPr>
          <a:xfrm>
            <a:off x="8759952" y="3127248"/>
            <a:ext cx="2926080" cy="292608"/>
          </a:xfrm>
          <a:prstGeom prst="rect">
            <a:avLst/>
          </a:prstGeom>
          <a:noFill/>
          <a:ln/>
        </p:spPr>
        <p:txBody>
          <a:bodyPr wrap="square" lIns="0" tIns="0" rIns="0" bIns="0" rtlCol="0" anchor="ctr"/>
          <a:lstStyle/>
          <a:p>
            <a:pPr indent="0" marL="0">
              <a:buNone/>
            </a:pPr>
            <a:r>
              <a:rPr lang="en-US" sz="1400" dirty="0">
                <a:solidFill>
                  <a:schemeClr val="tx1"/>
                </a:solidFill>
              </a:rPr>
              <a:t>Caller report vs hidden truth</a:t>
            </a:r>
            <a:endParaRPr lang="en-US" sz="1400" dirty="0"/>
          </a:p>
        </p:txBody>
      </p:sp>
      <p:sp>
        <p:nvSpPr>
          <p:cNvPr id="68" name="pipe-done-2"/>
          <p:cNvSpPr/>
          <p:nvPr/>
        </p:nvSpPr>
        <p:spPr>
          <a:xfrm>
            <a:off x="5074920" y="3538728"/>
            <a:ext cx="237744" cy="237744"/>
          </a:xfrm>
          <a:prstGeom prst="ellipse">
            <a:avLst/>
          </a:prstGeom>
          <a:solidFill>
            <a:schemeClr val="accent3"/>
          </a:solidFill>
          <a:ln/>
        </p:spPr>
      </p:sp>
      <p:pic>
        <p:nvPicPr>
          <p:cNvPr id="69" name="Image 2" descr="preencoded.png">    </p:cNvPr>
          <p:cNvPicPr>
            <a:picLocks noChangeAspect="1"/>
          </p:cNvPicPr>
          <p:nvPr/>
        </p:nvPicPr>
        <p:blipFill>
          <a:blip r:embed="rId3"/>
          <a:stretch>
            <a:fillRect/>
          </a:stretch>
        </p:blipFill>
        <p:spPr>
          <a:xfrm>
            <a:off x="5120640" y="3584448"/>
            <a:ext cx="146304" cy="146304"/>
          </a:xfrm>
          <a:prstGeom prst="rect">
            <a:avLst/>
          </a:prstGeom>
        </p:spPr>
      </p:pic>
      <p:sp>
        <p:nvSpPr>
          <p:cNvPr id="70" name="Text 65"/>
          <p:cNvSpPr txBox="1"/>
          <p:nvPr/>
        </p:nvSpPr>
        <p:spPr>
          <a:xfrm>
            <a:off x="5422392" y="3511296"/>
            <a:ext cx="2926080" cy="292608"/>
          </a:xfrm>
          <a:prstGeom prst="rect">
            <a:avLst/>
          </a:prstGeom>
          <a:noFill/>
          <a:ln/>
        </p:spPr>
        <p:txBody>
          <a:bodyPr wrap="square" lIns="0" tIns="0" rIns="0" bIns="0" rtlCol="0" anchor="ctr"/>
          <a:lstStyle/>
          <a:p>
            <a:pPr indent="0" marL="0">
              <a:buNone/>
            </a:pPr>
            <a:r>
              <a:rPr lang="en-US" sz="1400" dirty="0">
                <a:solidFill>
                  <a:schemeClr val="tx1"/>
                </a:solidFill>
              </a:rPr>
              <a:t>Poisson arrivals, START triage</a:t>
            </a:r>
            <a:endParaRPr lang="en-US" sz="1400" dirty="0"/>
          </a:p>
        </p:txBody>
      </p:sp>
      <p:sp>
        <p:nvSpPr>
          <p:cNvPr id="71" name="pipe-done-3"/>
          <p:cNvSpPr/>
          <p:nvPr/>
        </p:nvSpPr>
        <p:spPr>
          <a:xfrm>
            <a:off x="8412480" y="3538728"/>
            <a:ext cx="237744" cy="237744"/>
          </a:xfrm>
          <a:prstGeom prst="ellipse">
            <a:avLst/>
          </a:prstGeom>
          <a:solidFill>
            <a:schemeClr val="accent3"/>
          </a:solidFill>
          <a:ln/>
        </p:spPr>
      </p:sp>
      <p:pic>
        <p:nvPicPr>
          <p:cNvPr id="72" name="Image 3" descr="preencoded.png">    </p:cNvPr>
          <p:cNvPicPr>
            <a:picLocks noChangeAspect="1"/>
          </p:cNvPicPr>
          <p:nvPr/>
        </p:nvPicPr>
        <p:blipFill>
          <a:blip r:embed="rId4"/>
          <a:stretch>
            <a:fillRect/>
          </a:stretch>
        </p:blipFill>
        <p:spPr>
          <a:xfrm>
            <a:off x="8458200" y="3584448"/>
            <a:ext cx="146304" cy="146304"/>
          </a:xfrm>
          <a:prstGeom prst="rect">
            <a:avLst/>
          </a:prstGeom>
        </p:spPr>
      </p:pic>
      <p:sp>
        <p:nvSpPr>
          <p:cNvPr id="73" name="Text 67"/>
          <p:cNvSpPr txBox="1"/>
          <p:nvPr/>
        </p:nvSpPr>
        <p:spPr>
          <a:xfrm>
            <a:off x="8759952" y="3511296"/>
            <a:ext cx="2926080" cy="292608"/>
          </a:xfrm>
          <a:prstGeom prst="rect">
            <a:avLst/>
          </a:prstGeom>
          <a:noFill/>
          <a:ln/>
        </p:spPr>
        <p:txBody>
          <a:bodyPr wrap="square" lIns="0" tIns="0" rIns="0" bIns="0" rtlCol="0" anchor="ctr"/>
          <a:lstStyle/>
          <a:p>
            <a:pPr indent="0" marL="0">
              <a:buNone/>
            </a:pPr>
            <a:r>
              <a:rPr lang="en-US" sz="1400" dirty="0">
                <a:solidFill>
                  <a:schemeClr val="tx1"/>
                </a:solidFill>
              </a:rPr>
              <a:t>Travel-time matrix</a:t>
            </a:r>
            <a:endParaRPr lang="en-US" sz="1400" dirty="0"/>
          </a:p>
        </p:txBody>
      </p:sp>
      <p:sp>
        <p:nvSpPr>
          <p:cNvPr id="74" name="pipe-done-4"/>
          <p:cNvSpPr/>
          <p:nvPr/>
        </p:nvSpPr>
        <p:spPr>
          <a:xfrm>
            <a:off x="5074920" y="3922776"/>
            <a:ext cx="237744" cy="237744"/>
          </a:xfrm>
          <a:prstGeom prst="ellipse">
            <a:avLst/>
          </a:prstGeom>
          <a:solidFill>
            <a:schemeClr val="accent3"/>
          </a:solidFill>
          <a:ln/>
        </p:spPr>
      </p:sp>
      <p:pic>
        <p:nvPicPr>
          <p:cNvPr id="75" name="Image 4" descr="preencoded.png">    </p:cNvPr>
          <p:cNvPicPr>
            <a:picLocks noChangeAspect="1"/>
          </p:cNvPicPr>
          <p:nvPr/>
        </p:nvPicPr>
        <p:blipFill>
          <a:blip r:embed="rId5"/>
          <a:stretch>
            <a:fillRect/>
          </a:stretch>
        </p:blipFill>
        <p:spPr>
          <a:xfrm>
            <a:off x="5120640" y="3968496"/>
            <a:ext cx="146304" cy="146304"/>
          </a:xfrm>
          <a:prstGeom prst="rect">
            <a:avLst/>
          </a:prstGeom>
        </p:spPr>
      </p:pic>
      <p:sp>
        <p:nvSpPr>
          <p:cNvPr id="76" name="Text 69"/>
          <p:cNvSpPr txBox="1"/>
          <p:nvPr/>
        </p:nvSpPr>
        <p:spPr>
          <a:xfrm>
            <a:off x="5422392" y="3895344"/>
            <a:ext cx="2926080" cy="292608"/>
          </a:xfrm>
          <a:prstGeom prst="rect">
            <a:avLst/>
          </a:prstGeom>
          <a:noFill/>
          <a:ln/>
        </p:spPr>
        <p:txBody>
          <a:bodyPr wrap="square" lIns="0" tIns="0" rIns="0" bIns="0" rtlCol="0" anchor="ctr"/>
          <a:lstStyle/>
          <a:p>
            <a:pPr indent="0" marL="0">
              <a:buNone/>
            </a:pPr>
            <a:r>
              <a:rPr lang="en-US" sz="1400" dirty="0">
                <a:solidFill>
                  <a:schemeClr val="tx1"/>
                </a:solidFill>
              </a:rPr>
              <a:t>Mass-casualty cluster for contention</a:t>
            </a:r>
            <a:endParaRPr lang="en-US" sz="1400" dirty="0"/>
          </a:p>
        </p:txBody>
      </p:sp>
      <p:sp>
        <p:nvSpPr>
          <p:cNvPr id="77" name="pipe-done-5"/>
          <p:cNvSpPr/>
          <p:nvPr/>
        </p:nvSpPr>
        <p:spPr>
          <a:xfrm>
            <a:off x="8412480" y="3922776"/>
            <a:ext cx="237744" cy="237744"/>
          </a:xfrm>
          <a:prstGeom prst="ellipse">
            <a:avLst/>
          </a:prstGeom>
          <a:solidFill>
            <a:schemeClr val="accent3"/>
          </a:solidFill>
          <a:ln/>
        </p:spPr>
      </p:sp>
      <p:pic>
        <p:nvPicPr>
          <p:cNvPr id="78" name="Image 5" descr="preencoded.png">    </p:cNvPr>
          <p:cNvPicPr>
            <a:picLocks noChangeAspect="1"/>
          </p:cNvPicPr>
          <p:nvPr/>
        </p:nvPicPr>
        <p:blipFill>
          <a:blip r:embed="rId6"/>
          <a:stretch>
            <a:fillRect/>
          </a:stretch>
        </p:blipFill>
        <p:spPr>
          <a:xfrm>
            <a:off x="8458200" y="3968496"/>
            <a:ext cx="146304" cy="146304"/>
          </a:xfrm>
          <a:prstGeom prst="rect">
            <a:avLst/>
          </a:prstGeom>
        </p:spPr>
      </p:pic>
      <p:sp>
        <p:nvSpPr>
          <p:cNvPr id="79" name="Text 71"/>
          <p:cNvSpPr txBox="1"/>
          <p:nvPr/>
        </p:nvSpPr>
        <p:spPr>
          <a:xfrm>
            <a:off x="8759952" y="3895344"/>
            <a:ext cx="2926080" cy="292608"/>
          </a:xfrm>
          <a:prstGeom prst="rect">
            <a:avLst/>
          </a:prstGeom>
          <a:noFill/>
          <a:ln/>
        </p:spPr>
        <p:txBody>
          <a:bodyPr wrap="square" lIns="0" tIns="0" rIns="0" bIns="0" rtlCol="0" anchor="ctr"/>
          <a:lstStyle/>
          <a:p>
            <a:pPr indent="0" marL="0">
              <a:buNone/>
            </a:pPr>
            <a:r>
              <a:rPr lang="en-US" sz="1400" dirty="0">
                <a:solidFill>
                  <a:schemeClr val="tx1"/>
                </a:solidFill>
              </a:rPr>
              <a:t>Validation + SHA-256 manifest</a:t>
            </a:r>
            <a:endParaRPr lang="en-US" sz="1400" dirty="0"/>
          </a:p>
        </p:txBody>
      </p:sp>
      <p:sp>
        <p:nvSpPr>
          <p:cNvPr id="80" name="pipe-done-6"/>
          <p:cNvSpPr/>
          <p:nvPr/>
        </p:nvSpPr>
        <p:spPr>
          <a:xfrm>
            <a:off x="5074920" y="4306824"/>
            <a:ext cx="237744" cy="237744"/>
          </a:xfrm>
          <a:prstGeom prst="ellipse">
            <a:avLst/>
          </a:prstGeom>
          <a:solidFill>
            <a:schemeClr val="accent3"/>
          </a:solidFill>
          <a:ln/>
        </p:spPr>
      </p:sp>
      <p:pic>
        <p:nvPicPr>
          <p:cNvPr id="81" name="Image 6" descr="preencoded.png">    </p:cNvPr>
          <p:cNvPicPr>
            <a:picLocks noChangeAspect="1"/>
          </p:cNvPicPr>
          <p:nvPr/>
        </p:nvPicPr>
        <p:blipFill>
          <a:blip r:embed="rId7"/>
          <a:stretch>
            <a:fillRect/>
          </a:stretch>
        </p:blipFill>
        <p:spPr>
          <a:xfrm>
            <a:off x="5120640" y="4352544"/>
            <a:ext cx="146304" cy="146304"/>
          </a:xfrm>
          <a:prstGeom prst="rect">
            <a:avLst/>
          </a:prstGeom>
        </p:spPr>
      </p:pic>
      <p:sp>
        <p:nvSpPr>
          <p:cNvPr id="82" name="Text 73"/>
          <p:cNvSpPr txBox="1"/>
          <p:nvPr/>
        </p:nvSpPr>
        <p:spPr>
          <a:xfrm>
            <a:off x="5422392" y="4279392"/>
            <a:ext cx="2926080" cy="292608"/>
          </a:xfrm>
          <a:prstGeom prst="rect">
            <a:avLst/>
          </a:prstGeom>
          <a:noFill/>
          <a:ln/>
        </p:spPr>
        <p:txBody>
          <a:bodyPr wrap="square" lIns="0" tIns="0" rIns="0" bIns="0" rtlCol="0" anchor="ctr"/>
          <a:lstStyle/>
          <a:p>
            <a:pPr indent="0" marL="0">
              <a:buNone/>
            </a:pPr>
            <a:r>
              <a:rPr lang="en-US" sz="1400" dirty="0">
                <a:solidFill>
                  <a:schemeClr val="tx1"/>
                </a:solidFill>
              </a:rPr>
              <a:t>Controlled scenarios: same incidents</a:t>
            </a:r>
            <a:endParaRPr lang="en-US" sz="1400" dirty="0"/>
          </a:p>
        </p:txBody>
      </p:sp>
      <p:sp>
        <p:nvSpPr>
          <p:cNvPr id="83" name="pipe-next-7"/>
          <p:cNvSpPr/>
          <p:nvPr/>
        </p:nvSpPr>
        <p:spPr>
          <a:xfrm>
            <a:off x="8412480" y="4306824"/>
            <a:ext cx="237744" cy="237744"/>
          </a:xfrm>
          <a:prstGeom prst="ellipse">
            <a:avLst/>
          </a:prstGeom>
          <a:solidFill>
            <a:schemeClr val="bg1"/>
          </a:solidFill>
          <a:ln w="15875">
            <a:solidFill>
              <a:schemeClr val="accent5"/>
            </a:solidFill>
            <a:prstDash val="dash"/>
          </a:ln>
        </p:spPr>
      </p:sp>
      <p:sp>
        <p:nvSpPr>
          <p:cNvPr id="84" name="Text 75"/>
          <p:cNvSpPr txBox="1"/>
          <p:nvPr/>
        </p:nvSpPr>
        <p:spPr>
          <a:xfrm>
            <a:off x="8759952" y="4279392"/>
            <a:ext cx="2926080" cy="292608"/>
          </a:xfrm>
          <a:prstGeom prst="rect">
            <a:avLst/>
          </a:prstGeom>
          <a:noFill/>
          <a:ln/>
        </p:spPr>
        <p:txBody>
          <a:bodyPr wrap="square" lIns="0" tIns="0" rIns="0" bIns="0" rtlCol="0" anchor="ctr"/>
          <a:lstStyle/>
          <a:p>
            <a:pPr indent="0" marL="0">
              <a:buNone/>
            </a:pPr>
            <a:r>
              <a:rPr lang="en-US" sz="1400" i="1" dirty="0">
                <a:solidFill>
                  <a:schemeClr val="accent5"/>
                </a:solidFill>
              </a:rPr>
              <a:t>Next: LLM-written caller reports</a:t>
            </a:r>
            <a:endParaRPr lang="en-US" sz="1400" dirty="0"/>
          </a:p>
        </p:txBody>
      </p:sp>
      <p:sp>
        <p:nvSpPr>
          <p:cNvPr id="85" name="Text 76"/>
          <p:cNvSpPr txBox="1"/>
          <p:nvPr/>
        </p:nvSpPr>
        <p:spPr>
          <a:xfrm>
            <a:off x="5074920" y="4800600"/>
            <a:ext cx="6565392" cy="320040"/>
          </a:xfrm>
          <a:prstGeom prst="rect">
            <a:avLst/>
          </a:prstGeom>
          <a:noFill/>
          <a:ln/>
        </p:spPr>
        <p:txBody>
          <a:bodyPr wrap="square" lIns="0" tIns="0" rIns="0" bIns="0" rtlCol="0" anchor="ctr"/>
          <a:lstStyle/>
          <a:p>
            <a:pPr indent="0" marL="0">
              <a:buNone/>
            </a:pPr>
            <a:r>
              <a:rPr lang="en-US" sz="1600" b="1" dirty="0">
                <a:solidFill>
                  <a:schemeClr val="tx1"/>
                </a:solidFill>
              </a:rPr>
              <a:t>Plan to submission</a:t>
            </a:r>
            <a:endParaRPr lang="en-US" sz="1600" dirty="0"/>
          </a:p>
        </p:txBody>
      </p:sp>
      <p:sp>
        <p:nvSpPr>
          <p:cNvPr id="86" name="timeline"/>
          <p:cNvSpPr/>
          <p:nvPr/>
        </p:nvSpPr>
        <p:spPr>
          <a:xfrm>
            <a:off x="5669280" y="5440680"/>
            <a:ext cx="5349240" cy="0"/>
          </a:xfrm>
          <a:prstGeom prst="line">
            <a:avLst/>
          </a:prstGeom>
          <a:noFill/>
          <a:ln w="19050">
            <a:solidFill>
              <a:schemeClr val="accent6"/>
            </a:solidFill>
            <a:prstDash val="solid"/>
          </a:ln>
        </p:spPr>
      </p:sp>
      <p:sp>
        <p:nvSpPr>
          <p:cNvPr id="87" name="timeline-progress"/>
          <p:cNvSpPr/>
          <p:nvPr/>
        </p:nvSpPr>
        <p:spPr>
          <a:xfrm>
            <a:off x="5669280" y="5440680"/>
            <a:ext cx="534924" cy="0"/>
          </a:xfrm>
          <a:prstGeom prst="line">
            <a:avLst/>
          </a:prstGeom>
          <a:noFill/>
          <a:ln w="38100">
            <a:solidFill>
              <a:schemeClr val="accent3"/>
            </a:solidFill>
            <a:prstDash val="solid"/>
          </a:ln>
        </p:spPr>
      </p:sp>
      <p:sp>
        <p:nvSpPr>
          <p:cNvPr id="88" name="tl-node-0"/>
          <p:cNvSpPr/>
          <p:nvPr/>
        </p:nvSpPr>
        <p:spPr>
          <a:xfrm>
            <a:off x="5532120" y="5303520"/>
            <a:ext cx="274320" cy="274320"/>
          </a:xfrm>
          <a:prstGeom prst="ellipse">
            <a:avLst/>
          </a:prstGeom>
          <a:solidFill>
            <a:schemeClr val="accent3"/>
          </a:solidFill>
          <a:ln/>
        </p:spPr>
      </p:sp>
      <p:pic>
        <p:nvPicPr>
          <p:cNvPr id="89" name="Image 7" descr="preencoded.png">    </p:cNvPr>
          <p:cNvPicPr>
            <a:picLocks noChangeAspect="1"/>
          </p:cNvPicPr>
          <p:nvPr/>
        </p:nvPicPr>
        <p:blipFill>
          <a:blip r:embed="rId8"/>
          <a:stretch>
            <a:fillRect/>
          </a:stretch>
        </p:blipFill>
        <p:spPr>
          <a:xfrm>
            <a:off x="5586984" y="5358384"/>
            <a:ext cx="164592" cy="164592"/>
          </a:xfrm>
          <a:prstGeom prst="rect">
            <a:avLst/>
          </a:prstGeom>
        </p:spPr>
      </p:pic>
      <p:sp>
        <p:nvSpPr>
          <p:cNvPr id="90" name="tl-label-0"/>
          <p:cNvSpPr txBox="1"/>
          <p:nvPr/>
        </p:nvSpPr>
        <p:spPr>
          <a:xfrm>
            <a:off x="5148072" y="5641848"/>
            <a:ext cx="1042416" cy="594360"/>
          </a:xfrm>
          <a:prstGeom prst="rect">
            <a:avLst/>
          </a:prstGeom>
          <a:noFill/>
          <a:ln/>
        </p:spPr>
        <p:txBody>
          <a:bodyPr wrap="square" lIns="0" tIns="0" rIns="0" bIns="0" rtlCol="0" anchor="t"/>
          <a:lstStyle/>
          <a:p>
            <a:pPr algn="ctr" indent="0" marL="0">
              <a:buNone/>
            </a:pPr>
            <a:r>
              <a:rPr lang="en-US" sz="1200" b="1" dirty="0">
                <a:solidFill>
                  <a:schemeClr val="accent3"/>
                </a:solidFill>
              </a:rPr>
              <a:t>Today, 21 Oct</a:t>
            </a:r>
            <a:endParaRPr lang="en-US" sz="1200" dirty="0"/>
          </a:p>
          <a:p>
            <a:pPr algn="ctr" indent="0" marL="0">
              <a:buNone/>
            </a:pPr>
            <a:r>
              <a:rPr lang="en-US" sz="1200" dirty="0">
                <a:solidFill>
                  <a:schemeClr val="tx2"/>
                </a:solidFill>
              </a:rPr>
              <a:t>Design + data</a:t>
            </a:r>
            <a:endParaRPr lang="en-US" sz="1200" dirty="0"/>
          </a:p>
        </p:txBody>
      </p:sp>
      <p:sp>
        <p:nvSpPr>
          <p:cNvPr id="91" name="tl-node-1"/>
          <p:cNvSpPr/>
          <p:nvPr/>
        </p:nvSpPr>
        <p:spPr>
          <a:xfrm>
            <a:off x="6629400" y="5330952"/>
            <a:ext cx="219456" cy="219456"/>
          </a:xfrm>
          <a:prstGeom prst="ellipse">
            <a:avLst/>
          </a:prstGeom>
          <a:solidFill>
            <a:schemeClr val="bg1"/>
          </a:solidFill>
          <a:ln w="19050">
            <a:solidFill>
              <a:schemeClr val="accent6"/>
            </a:solidFill>
            <a:prstDash val="solid"/>
          </a:ln>
        </p:spPr>
      </p:sp>
      <p:sp>
        <p:nvSpPr>
          <p:cNvPr id="92" name="tl-label-1"/>
          <p:cNvSpPr txBox="1"/>
          <p:nvPr/>
        </p:nvSpPr>
        <p:spPr>
          <a:xfrm>
            <a:off x="6217920" y="5641848"/>
            <a:ext cx="1042416" cy="594360"/>
          </a:xfrm>
          <a:prstGeom prst="rect">
            <a:avLst/>
          </a:prstGeom>
          <a:noFill/>
          <a:ln/>
        </p:spPr>
        <p:txBody>
          <a:bodyPr wrap="square" lIns="0" tIns="0" rIns="0" bIns="0" rtlCol="0" anchor="t"/>
          <a:lstStyle/>
          <a:p>
            <a:pPr algn="ctr" indent="0" marL="0">
              <a:buNone/>
            </a:pPr>
            <a:r>
              <a:rPr lang="en-US" sz="1200" b="1" dirty="0">
                <a:solidFill>
                  <a:schemeClr val="tx1"/>
                </a:solidFill>
              </a:rPr>
              <a:t>22–25 Oct</a:t>
            </a:r>
            <a:endParaRPr lang="en-US" sz="1200" dirty="0"/>
          </a:p>
          <a:p>
            <a:pPr algn="ctr" indent="0" marL="0">
              <a:buNone/>
            </a:pPr>
            <a:r>
              <a:rPr lang="en-US" sz="1200" dirty="0">
                <a:solidFill>
                  <a:schemeClr val="tx2"/>
                </a:solidFill>
              </a:rPr>
              <a:t>Engine + baseline</a:t>
            </a:r>
            <a:endParaRPr lang="en-US" sz="1200" dirty="0"/>
          </a:p>
        </p:txBody>
      </p:sp>
      <p:sp>
        <p:nvSpPr>
          <p:cNvPr id="93" name="tl-node-2"/>
          <p:cNvSpPr/>
          <p:nvPr/>
        </p:nvSpPr>
        <p:spPr>
          <a:xfrm>
            <a:off x="7699248" y="5330952"/>
            <a:ext cx="219456" cy="219456"/>
          </a:xfrm>
          <a:prstGeom prst="ellipse">
            <a:avLst/>
          </a:prstGeom>
          <a:solidFill>
            <a:schemeClr val="bg1"/>
          </a:solidFill>
          <a:ln w="19050">
            <a:solidFill>
              <a:schemeClr val="accent6"/>
            </a:solidFill>
            <a:prstDash val="solid"/>
          </a:ln>
        </p:spPr>
      </p:sp>
      <p:sp>
        <p:nvSpPr>
          <p:cNvPr id="94" name="tl-label-2"/>
          <p:cNvSpPr txBox="1"/>
          <p:nvPr/>
        </p:nvSpPr>
        <p:spPr>
          <a:xfrm>
            <a:off x="7287768" y="5641848"/>
            <a:ext cx="1042416" cy="594360"/>
          </a:xfrm>
          <a:prstGeom prst="rect">
            <a:avLst/>
          </a:prstGeom>
          <a:noFill/>
          <a:ln/>
        </p:spPr>
        <p:txBody>
          <a:bodyPr wrap="square" lIns="0" tIns="0" rIns="0" bIns="0" rtlCol="0" anchor="t"/>
          <a:lstStyle/>
          <a:p>
            <a:pPr algn="ctr" indent="0" marL="0">
              <a:buNone/>
            </a:pPr>
            <a:r>
              <a:rPr lang="en-US" sz="1200" b="1" dirty="0">
                <a:solidFill>
                  <a:schemeClr val="tx1"/>
                </a:solidFill>
              </a:rPr>
              <a:t>26–29 Oct</a:t>
            </a:r>
            <a:endParaRPr lang="en-US" sz="1200" dirty="0"/>
          </a:p>
          <a:p>
            <a:pPr algn="ctr" indent="0" marL="0">
              <a:buNone/>
            </a:pPr>
            <a:r>
              <a:rPr lang="en-US" sz="1200" dirty="0">
                <a:solidFill>
                  <a:schemeClr val="tx2"/>
                </a:solidFill>
              </a:rPr>
              <a:t>Agents + negotiation</a:t>
            </a:r>
            <a:endParaRPr lang="en-US" sz="1200" dirty="0"/>
          </a:p>
        </p:txBody>
      </p:sp>
      <p:sp>
        <p:nvSpPr>
          <p:cNvPr id="95" name="tl-node-3"/>
          <p:cNvSpPr/>
          <p:nvPr/>
        </p:nvSpPr>
        <p:spPr>
          <a:xfrm>
            <a:off x="8769096" y="5330952"/>
            <a:ext cx="219456" cy="219456"/>
          </a:xfrm>
          <a:prstGeom prst="ellipse">
            <a:avLst/>
          </a:prstGeom>
          <a:solidFill>
            <a:schemeClr val="bg1"/>
          </a:solidFill>
          <a:ln w="19050">
            <a:solidFill>
              <a:schemeClr val="accent6"/>
            </a:solidFill>
            <a:prstDash val="solid"/>
          </a:ln>
        </p:spPr>
      </p:sp>
      <p:sp>
        <p:nvSpPr>
          <p:cNvPr id="96" name="tl-label-3"/>
          <p:cNvSpPr txBox="1"/>
          <p:nvPr/>
        </p:nvSpPr>
        <p:spPr>
          <a:xfrm>
            <a:off x="8357616" y="5641848"/>
            <a:ext cx="1042416" cy="594360"/>
          </a:xfrm>
          <a:prstGeom prst="rect">
            <a:avLst/>
          </a:prstGeom>
          <a:noFill/>
          <a:ln/>
        </p:spPr>
        <p:txBody>
          <a:bodyPr wrap="square" lIns="0" tIns="0" rIns="0" bIns="0" rtlCol="0" anchor="t"/>
          <a:lstStyle/>
          <a:p>
            <a:pPr algn="ctr" indent="0" marL="0">
              <a:buNone/>
            </a:pPr>
            <a:r>
              <a:rPr lang="en-US" sz="1200" b="1" dirty="0">
                <a:solidFill>
                  <a:schemeClr val="tx1"/>
                </a:solidFill>
              </a:rPr>
              <a:t>30 Oct–1 Nov</a:t>
            </a:r>
            <a:endParaRPr lang="en-US" sz="1200" dirty="0"/>
          </a:p>
          <a:p>
            <a:pPr algn="ctr" indent="0" marL="0">
              <a:buNone/>
            </a:pPr>
            <a:r>
              <a:rPr lang="en-US" sz="1200" dirty="0">
                <a:solidFill>
                  <a:schemeClr val="tx2"/>
                </a:solidFill>
              </a:rPr>
              <a:t>Streamlit dashboard</a:t>
            </a:r>
            <a:endParaRPr lang="en-US" sz="1200" dirty="0"/>
          </a:p>
        </p:txBody>
      </p:sp>
      <p:sp>
        <p:nvSpPr>
          <p:cNvPr id="97" name="tl-node-4"/>
          <p:cNvSpPr/>
          <p:nvPr/>
        </p:nvSpPr>
        <p:spPr>
          <a:xfrm>
            <a:off x="9838944" y="5330952"/>
            <a:ext cx="219456" cy="219456"/>
          </a:xfrm>
          <a:prstGeom prst="ellipse">
            <a:avLst/>
          </a:prstGeom>
          <a:solidFill>
            <a:schemeClr val="bg1"/>
          </a:solidFill>
          <a:ln w="19050">
            <a:solidFill>
              <a:schemeClr val="accent6"/>
            </a:solidFill>
            <a:prstDash val="solid"/>
          </a:ln>
        </p:spPr>
      </p:sp>
      <p:sp>
        <p:nvSpPr>
          <p:cNvPr id="98" name="tl-label-4"/>
          <p:cNvSpPr txBox="1"/>
          <p:nvPr/>
        </p:nvSpPr>
        <p:spPr>
          <a:xfrm>
            <a:off x="9427464" y="5641848"/>
            <a:ext cx="1042416" cy="594360"/>
          </a:xfrm>
          <a:prstGeom prst="rect">
            <a:avLst/>
          </a:prstGeom>
          <a:noFill/>
          <a:ln/>
        </p:spPr>
        <p:txBody>
          <a:bodyPr wrap="square" lIns="0" tIns="0" rIns="0" bIns="0" rtlCol="0" anchor="t"/>
          <a:lstStyle/>
          <a:p>
            <a:pPr algn="ctr" indent="0" marL="0">
              <a:buNone/>
            </a:pPr>
            <a:r>
              <a:rPr lang="en-US" sz="1200" b="1" dirty="0">
                <a:solidFill>
                  <a:schemeClr val="tx1"/>
                </a:solidFill>
              </a:rPr>
              <a:t>2–3 Nov</a:t>
            </a:r>
            <a:endParaRPr lang="en-US" sz="1200" dirty="0"/>
          </a:p>
          <a:p>
            <a:pPr algn="ctr" indent="0" marL="0">
              <a:buNone/>
            </a:pPr>
            <a:r>
              <a:rPr lang="en-US" sz="1200" dirty="0">
                <a:solidFill>
                  <a:schemeClr val="tx2"/>
                </a:solidFill>
              </a:rPr>
              <a:t>Evaluation + report</a:t>
            </a:r>
            <a:endParaRPr lang="en-US" sz="1200" dirty="0"/>
          </a:p>
        </p:txBody>
      </p:sp>
      <p:sp>
        <p:nvSpPr>
          <p:cNvPr id="99" name="tl-node-5"/>
          <p:cNvSpPr/>
          <p:nvPr/>
        </p:nvSpPr>
        <p:spPr>
          <a:xfrm>
            <a:off x="10908792" y="5330952"/>
            <a:ext cx="219456" cy="219456"/>
          </a:xfrm>
          <a:prstGeom prst="ellipse">
            <a:avLst/>
          </a:prstGeom>
          <a:solidFill>
            <a:schemeClr val="bg1"/>
          </a:solidFill>
          <a:ln w="19050">
            <a:solidFill>
              <a:schemeClr val="accent1"/>
            </a:solidFill>
            <a:prstDash val="solid"/>
          </a:ln>
        </p:spPr>
      </p:sp>
      <p:sp>
        <p:nvSpPr>
          <p:cNvPr id="100" name="tl-label-5"/>
          <p:cNvSpPr txBox="1"/>
          <p:nvPr/>
        </p:nvSpPr>
        <p:spPr>
          <a:xfrm>
            <a:off x="10497312" y="5641848"/>
            <a:ext cx="1042416" cy="594360"/>
          </a:xfrm>
          <a:prstGeom prst="rect">
            <a:avLst/>
          </a:prstGeom>
          <a:noFill/>
          <a:ln/>
        </p:spPr>
        <p:txBody>
          <a:bodyPr wrap="square" lIns="0" tIns="0" rIns="0" bIns="0" rtlCol="0" anchor="t"/>
          <a:lstStyle/>
          <a:p>
            <a:pPr algn="ctr" indent="0" marL="0">
              <a:buNone/>
            </a:pPr>
            <a:r>
              <a:rPr lang="en-US" sz="1200" b="1" dirty="0">
                <a:solidFill>
                  <a:schemeClr val="tx1"/>
                </a:solidFill>
              </a:rPr>
              <a:t>4 Nov</a:t>
            </a:r>
            <a:endParaRPr lang="en-US" sz="1200" dirty="0"/>
          </a:p>
          <a:p>
            <a:pPr algn="ctr" indent="0" marL="0">
              <a:buNone/>
            </a:pPr>
            <a:r>
              <a:rPr lang="en-US" sz="1200" dirty="0">
                <a:solidFill>
                  <a:schemeClr val="tx2"/>
                </a:solidFill>
              </a:rPr>
              <a:t>Submit 18:00</a:t>
            </a:r>
            <a:endParaRPr lang="en-US" sz="12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1672" cy="621792"/>
          </a:xfrm>
          <a:prstGeom prst="rect">
            <a:avLst/>
          </a:prstGeom>
          <a:noFill/>
          <a:ln/>
        </p:spPr>
        <p:txBody>
          <a:bodyPr wrap="square" lIns="0" tIns="0" rIns="0" bIns="0" rtlCol="0" anchor="t"/>
          <a:lstStyle/>
          <a:p>
            <a:pPr algn="l" indent="0" marL="0">
              <a:buNone/>
            </a:pPr>
            <a:r>
              <a:rPr lang="en-US" sz="3400" b="1" dirty="0">
                <a:solidFill>
                  <a:schemeClr val="tx1"/>
                </a:solidFill>
                <a:latin typeface="Arial" pitchFamily="34" charset="0"/>
                <a:ea typeface="Arial" pitchFamily="34" charset="-122"/>
                <a:cs typeface="Arial" pitchFamily="34" charset="-120"/>
              </a:rPr>
              <a:t>System flow: data to decision</a:t>
            </a:r>
            <a:endParaRPr lang="en-US" sz="3400" dirty="0"/>
          </a:p>
        </p:txBody>
      </p:sp>
      <p:sp>
        <p:nvSpPr>
          <p:cNvPr id="3" name="Text 0"/>
          <p:cNvSpPr/>
          <p:nvPr>
            <p:ph idx="101" type="body" hasCustomPrompt="1"/>
          </p:nvPr>
        </p:nvSpPr>
        <p:spPr>
          <a:xfrm>
            <a:off x="548640" y="969264"/>
            <a:ext cx="11091672" cy="384048"/>
          </a:xfrm>
          <a:prstGeom prst="rect">
            <a:avLst/>
          </a:prstGeom>
          <a:noFill/>
          <a:ln/>
        </p:spPr>
        <p:txBody>
          <a:bodyPr wrap="square" lIns="0" tIns="0" rIns="0" bIns="0" rtlCol="0" anchor="t"/>
          <a:lstStyle/>
          <a:p>
            <a:pPr algn="l" indent="0" marL="0">
              <a:buNone/>
            </a:pPr>
            <a:r>
              <a:rPr lang="en-US" sz="1600" dirty="0">
                <a:solidFill>
                  <a:schemeClr val="accent5"/>
                </a:solidFill>
                <a:latin typeface="Calibri" pitchFamily="34" charset="0"/>
                <a:ea typeface="Calibri" pitchFamily="34" charset="-122"/>
                <a:cs typeface="Calibri" pitchFamily="34" charset="-120"/>
              </a:rPr>
              <a:t>Components across the top, the six agents in the middle, the negotiation protocol that resolves conflicts below</a:t>
            </a:r>
            <a:endParaRPr lang="en-US" sz="1600" dirty="0"/>
          </a:p>
        </p:txBody>
      </p:sp>
      <p:sp>
        <p:nvSpPr>
          <p:cNvPr id="4" name="s4-flow-Synthetic data"/>
          <p:cNvSpPr/>
          <p:nvPr/>
        </p:nvSpPr>
        <p:spPr>
          <a:xfrm>
            <a:off x="548640" y="1508760"/>
            <a:ext cx="2560320" cy="868680"/>
          </a:xfrm>
          <a:prstGeom prst="roundRect">
            <a:avLst>
              <a:gd name="adj" fmla="val 8421"/>
            </a:avLst>
          </a:prstGeom>
          <a:solidFill>
            <a:schemeClr val="bg2"/>
          </a:solidFill>
          <a:ln/>
        </p:spPr>
      </p:sp>
      <p:sp>
        <p:nvSpPr>
          <p:cNvPr id="5" name="s4-disc-Synthetic data"/>
          <p:cNvSpPr/>
          <p:nvPr/>
        </p:nvSpPr>
        <p:spPr>
          <a:xfrm>
            <a:off x="640080" y="1600200"/>
            <a:ext cx="329184" cy="329184"/>
          </a:xfrm>
          <a:prstGeom prst="ellipse">
            <a:avLst/>
          </a:prstGeom>
          <a:solidFill>
            <a:schemeClr val="accent4"/>
          </a:solidFill>
          <a:ln/>
        </p:spPr>
      </p:sp>
      <p:pic>
        <p:nvPicPr>
          <p:cNvPr id="6" name="Image 0" descr="preencoded.png">    </p:cNvPr>
          <p:cNvPicPr>
            <a:picLocks noChangeAspect="1"/>
          </p:cNvPicPr>
          <p:nvPr/>
        </p:nvPicPr>
        <p:blipFill>
          <a:blip r:embed="rId1"/>
          <a:stretch>
            <a:fillRect/>
          </a:stretch>
        </p:blipFill>
        <p:spPr>
          <a:xfrm>
            <a:off x="676656" y="1636776"/>
            <a:ext cx="256032" cy="256032"/>
          </a:xfrm>
          <a:prstGeom prst="rect">
            <a:avLst/>
          </a:prstGeom>
        </p:spPr>
      </p:pic>
      <p:sp>
        <p:nvSpPr>
          <p:cNvPr id="7" name="Text 4"/>
          <p:cNvSpPr txBox="1"/>
          <p:nvPr/>
        </p:nvSpPr>
        <p:spPr>
          <a:xfrm>
            <a:off x="1005840" y="1581912"/>
            <a:ext cx="2011680" cy="722376"/>
          </a:xfrm>
          <a:prstGeom prst="rect">
            <a:avLst/>
          </a:prstGeom>
          <a:noFill/>
          <a:ln/>
        </p:spPr>
        <p:txBody>
          <a:bodyPr wrap="square" lIns="0" tIns="0" rIns="0" bIns="0" rtlCol="0" anchor="t"/>
          <a:lstStyle/>
          <a:p>
            <a:pPr indent="0" marL="0">
              <a:buNone/>
            </a:pPr>
            <a:r>
              <a:rPr lang="en-US" sz="1300" b="1" dirty="0">
                <a:solidFill>
                  <a:schemeClr val="tx1"/>
                </a:solidFill>
              </a:rPr>
              <a:t>Synthetic data</a:t>
            </a:r>
            <a:endParaRPr lang="en-US" sz="1300" dirty="0"/>
          </a:p>
          <a:p>
            <a:pPr indent="0" marL="0">
              <a:buNone/>
            </a:pPr>
            <a:r>
              <a:rPr lang="en-US" sz="1050" dirty="0">
                <a:solidFill>
                  <a:schemeClr val="accent5"/>
                </a:solidFill>
              </a:rPr>
              <a:t>Seeded scenarios, 3 conditions</a:t>
            </a:r>
            <a:endParaRPr lang="en-US" sz="1300" dirty="0"/>
          </a:p>
        </p:txBody>
      </p:sp>
      <p:sp>
        <p:nvSpPr>
          <p:cNvPr id="8" name="s4-flow-Simulation engine"/>
          <p:cNvSpPr/>
          <p:nvPr/>
        </p:nvSpPr>
        <p:spPr>
          <a:xfrm>
            <a:off x="3337560" y="1508760"/>
            <a:ext cx="2560320" cy="868680"/>
          </a:xfrm>
          <a:prstGeom prst="roundRect">
            <a:avLst>
              <a:gd name="adj" fmla="val 8421"/>
            </a:avLst>
          </a:prstGeom>
          <a:solidFill>
            <a:schemeClr val="tx2"/>
          </a:solidFill>
          <a:ln/>
        </p:spPr>
      </p:sp>
      <p:pic>
        <p:nvPicPr>
          <p:cNvPr id="9" name="Image 1" descr="preencoded.png">    </p:cNvPr>
          <p:cNvPicPr>
            <a:picLocks noChangeAspect="1"/>
          </p:cNvPicPr>
          <p:nvPr/>
        </p:nvPicPr>
        <p:blipFill>
          <a:blip r:embed="rId2"/>
          <a:stretch>
            <a:fillRect/>
          </a:stretch>
        </p:blipFill>
        <p:spPr>
          <a:xfrm>
            <a:off x="3465576" y="1636776"/>
            <a:ext cx="256032" cy="256032"/>
          </a:xfrm>
          <a:prstGeom prst="rect">
            <a:avLst/>
          </a:prstGeom>
        </p:spPr>
      </p:pic>
      <p:sp>
        <p:nvSpPr>
          <p:cNvPr id="10" name="Text 6"/>
          <p:cNvSpPr txBox="1"/>
          <p:nvPr/>
        </p:nvSpPr>
        <p:spPr>
          <a:xfrm>
            <a:off x="3794760" y="1581912"/>
            <a:ext cx="2011680" cy="722376"/>
          </a:xfrm>
          <a:prstGeom prst="rect">
            <a:avLst/>
          </a:prstGeom>
          <a:noFill/>
          <a:ln/>
        </p:spPr>
        <p:txBody>
          <a:bodyPr wrap="square" lIns="0" tIns="0" rIns="0" bIns="0" rtlCol="0" anchor="t"/>
          <a:lstStyle/>
          <a:p>
            <a:pPr indent="0" marL="0">
              <a:buNone/>
            </a:pPr>
            <a:r>
              <a:rPr lang="en-US" sz="1300" b="1" dirty="0">
                <a:solidFill>
                  <a:schemeClr val="bg1"/>
                </a:solidFill>
              </a:rPr>
              <a:t>Simulation engine</a:t>
            </a:r>
            <a:endParaRPr lang="en-US" sz="1300" dirty="0"/>
          </a:p>
          <a:p>
            <a:pPr indent="0" marL="0">
              <a:buNone/>
            </a:pPr>
            <a:r>
              <a:rPr lang="en-US" sz="1050" dirty="0">
                <a:solidFill>
                  <a:schemeClr val="bg2"/>
                </a:solidFill>
              </a:rPr>
              <a:t>Owns state; rejects invalid actions</a:t>
            </a:r>
            <a:endParaRPr lang="en-US" sz="1300" dirty="0"/>
          </a:p>
        </p:txBody>
      </p:sp>
      <p:sp>
        <p:nvSpPr>
          <p:cNvPr id="11" name="s4-flow-Event log"/>
          <p:cNvSpPr/>
          <p:nvPr/>
        </p:nvSpPr>
        <p:spPr>
          <a:xfrm>
            <a:off x="6126480" y="1508760"/>
            <a:ext cx="2560320" cy="868680"/>
          </a:xfrm>
          <a:prstGeom prst="roundRect">
            <a:avLst>
              <a:gd name="adj" fmla="val 8421"/>
            </a:avLst>
          </a:prstGeom>
          <a:solidFill>
            <a:schemeClr val="bg2"/>
          </a:solidFill>
          <a:ln/>
        </p:spPr>
      </p:sp>
      <p:sp>
        <p:nvSpPr>
          <p:cNvPr id="12" name="s4-disc-Event log"/>
          <p:cNvSpPr/>
          <p:nvPr/>
        </p:nvSpPr>
        <p:spPr>
          <a:xfrm>
            <a:off x="6217920" y="1600200"/>
            <a:ext cx="329184" cy="329184"/>
          </a:xfrm>
          <a:prstGeom prst="ellipse">
            <a:avLst/>
          </a:prstGeom>
          <a:solidFill>
            <a:schemeClr val="accent4"/>
          </a:solidFill>
          <a:ln/>
        </p:spPr>
      </p:sp>
      <p:pic>
        <p:nvPicPr>
          <p:cNvPr id="13" name="Image 2" descr="preencoded.png">    </p:cNvPr>
          <p:cNvPicPr>
            <a:picLocks noChangeAspect="1"/>
          </p:cNvPicPr>
          <p:nvPr/>
        </p:nvPicPr>
        <p:blipFill>
          <a:blip r:embed="rId3"/>
          <a:stretch>
            <a:fillRect/>
          </a:stretch>
        </p:blipFill>
        <p:spPr>
          <a:xfrm>
            <a:off x="6254496" y="1636776"/>
            <a:ext cx="256032" cy="256032"/>
          </a:xfrm>
          <a:prstGeom prst="rect">
            <a:avLst/>
          </a:prstGeom>
        </p:spPr>
      </p:pic>
      <p:sp>
        <p:nvSpPr>
          <p:cNvPr id="14" name="Text 9"/>
          <p:cNvSpPr txBox="1"/>
          <p:nvPr/>
        </p:nvSpPr>
        <p:spPr>
          <a:xfrm>
            <a:off x="6583680" y="1581912"/>
            <a:ext cx="2011680" cy="722376"/>
          </a:xfrm>
          <a:prstGeom prst="rect">
            <a:avLst/>
          </a:prstGeom>
          <a:noFill/>
          <a:ln/>
        </p:spPr>
        <p:txBody>
          <a:bodyPr wrap="square" lIns="0" tIns="0" rIns="0" bIns="0" rtlCol="0" anchor="t"/>
          <a:lstStyle/>
          <a:p>
            <a:pPr indent="0" marL="0">
              <a:buNone/>
            </a:pPr>
            <a:r>
              <a:rPr lang="en-US" sz="1300" b="1" dirty="0">
                <a:solidFill>
                  <a:schemeClr val="tx1"/>
                </a:solidFill>
              </a:rPr>
              <a:t>Event log</a:t>
            </a:r>
            <a:endParaRPr lang="en-US" sz="1300" dirty="0"/>
          </a:p>
          <a:p>
            <a:pPr indent="0" marL="0">
              <a:buNone/>
            </a:pPr>
            <a:r>
              <a:rPr lang="en-US" sz="1050" dirty="0">
                <a:solidFill>
                  <a:schemeClr val="accent5"/>
                </a:solidFill>
              </a:rPr>
              <a:t>Every message, JSONL</a:t>
            </a:r>
            <a:endParaRPr lang="en-US" sz="1300" dirty="0"/>
          </a:p>
        </p:txBody>
      </p:sp>
      <p:sp>
        <p:nvSpPr>
          <p:cNvPr id="15" name="s4-flow-Streamlit dashboard"/>
          <p:cNvSpPr/>
          <p:nvPr/>
        </p:nvSpPr>
        <p:spPr>
          <a:xfrm>
            <a:off x="8915400" y="1508760"/>
            <a:ext cx="2560320" cy="868680"/>
          </a:xfrm>
          <a:prstGeom prst="roundRect">
            <a:avLst>
              <a:gd name="adj" fmla="val 8421"/>
            </a:avLst>
          </a:prstGeom>
          <a:solidFill>
            <a:schemeClr val="bg2"/>
          </a:solidFill>
          <a:ln/>
        </p:spPr>
      </p:sp>
      <p:sp>
        <p:nvSpPr>
          <p:cNvPr id="16" name="s4-disc-Streamlit dashboard"/>
          <p:cNvSpPr/>
          <p:nvPr/>
        </p:nvSpPr>
        <p:spPr>
          <a:xfrm>
            <a:off x="9006840" y="1600200"/>
            <a:ext cx="329184" cy="329184"/>
          </a:xfrm>
          <a:prstGeom prst="ellipse">
            <a:avLst/>
          </a:prstGeom>
          <a:solidFill>
            <a:schemeClr val="accent4"/>
          </a:solidFill>
          <a:ln/>
        </p:spPr>
      </p:sp>
      <p:pic>
        <p:nvPicPr>
          <p:cNvPr id="17" name="Image 3" descr="preencoded.png">    </p:cNvPr>
          <p:cNvPicPr>
            <a:picLocks noChangeAspect="1"/>
          </p:cNvPicPr>
          <p:nvPr/>
        </p:nvPicPr>
        <p:blipFill>
          <a:blip r:embed="rId4"/>
          <a:stretch>
            <a:fillRect/>
          </a:stretch>
        </p:blipFill>
        <p:spPr>
          <a:xfrm>
            <a:off x="9043416" y="1636776"/>
            <a:ext cx="256032" cy="256032"/>
          </a:xfrm>
          <a:prstGeom prst="rect">
            <a:avLst/>
          </a:prstGeom>
        </p:spPr>
      </p:pic>
      <p:sp>
        <p:nvSpPr>
          <p:cNvPr id="18" name="Text 12"/>
          <p:cNvSpPr txBox="1"/>
          <p:nvPr/>
        </p:nvSpPr>
        <p:spPr>
          <a:xfrm>
            <a:off x="9372600" y="1581912"/>
            <a:ext cx="2011680" cy="722376"/>
          </a:xfrm>
          <a:prstGeom prst="rect">
            <a:avLst/>
          </a:prstGeom>
          <a:noFill/>
          <a:ln/>
        </p:spPr>
        <p:txBody>
          <a:bodyPr wrap="square" lIns="0" tIns="0" rIns="0" bIns="0" rtlCol="0" anchor="t"/>
          <a:lstStyle/>
          <a:p>
            <a:pPr indent="0" marL="0">
              <a:buNone/>
            </a:pPr>
            <a:r>
              <a:rPr lang="en-US" sz="1300" b="1" dirty="0">
                <a:solidFill>
                  <a:schemeClr val="tx1"/>
                </a:solidFill>
              </a:rPr>
              <a:t>Streamlit dashboard</a:t>
            </a:r>
            <a:endParaRPr lang="en-US" sz="1300" dirty="0"/>
          </a:p>
          <a:p>
            <a:pPr indent="0" marL="0">
              <a:buNone/>
            </a:pPr>
            <a:r>
              <a:rPr lang="en-US" sz="1050" dirty="0">
                <a:solidFill>
                  <a:schemeClr val="accent5"/>
                </a:solidFill>
              </a:rPr>
              <a:t>Map, KPIs, negotiation history</a:t>
            </a:r>
            <a:endParaRPr lang="en-US" sz="1300" dirty="0"/>
          </a:p>
        </p:txBody>
      </p:sp>
      <p:sp>
        <p:nvSpPr>
          <p:cNvPr id="19" name="s4-pipe-arrow-0"/>
          <p:cNvSpPr/>
          <p:nvPr/>
        </p:nvSpPr>
        <p:spPr>
          <a:xfrm>
            <a:off x="3108960" y="1943100"/>
            <a:ext cx="228600" cy="0"/>
          </a:xfrm>
          <a:prstGeom prst="line">
            <a:avLst/>
          </a:prstGeom>
          <a:noFill/>
          <a:ln w="19050">
            <a:solidFill>
              <a:schemeClr val="accent5"/>
            </a:solidFill>
            <a:prstDash val="solid"/>
            <a:tailEnd type="triangle"/>
          </a:ln>
        </p:spPr>
      </p:sp>
      <p:sp>
        <p:nvSpPr>
          <p:cNvPr id="20" name="s4-pipe-arrow-1"/>
          <p:cNvSpPr/>
          <p:nvPr/>
        </p:nvSpPr>
        <p:spPr>
          <a:xfrm>
            <a:off x="5897880" y="1943100"/>
            <a:ext cx="228600" cy="0"/>
          </a:xfrm>
          <a:prstGeom prst="line">
            <a:avLst/>
          </a:prstGeom>
          <a:noFill/>
          <a:ln w="19050">
            <a:solidFill>
              <a:schemeClr val="accent5"/>
            </a:solidFill>
            <a:prstDash val="solid"/>
            <a:tailEnd type="triangle"/>
          </a:ln>
        </p:spPr>
      </p:sp>
      <p:sp>
        <p:nvSpPr>
          <p:cNvPr id="21" name="s4-pipe-arrow-2"/>
          <p:cNvSpPr/>
          <p:nvPr/>
        </p:nvSpPr>
        <p:spPr>
          <a:xfrm>
            <a:off x="8686800" y="1943100"/>
            <a:ext cx="228600" cy="0"/>
          </a:xfrm>
          <a:prstGeom prst="line">
            <a:avLst/>
          </a:prstGeom>
          <a:noFill/>
          <a:ln w="19050">
            <a:solidFill>
              <a:schemeClr val="accent5"/>
            </a:solidFill>
            <a:prstDash val="solid"/>
            <a:tailEnd type="triangle"/>
          </a:ln>
        </p:spPr>
      </p:sp>
      <p:sp>
        <p:nvSpPr>
          <p:cNvPr id="22" name="s4-arrow-tools"/>
          <p:cNvSpPr/>
          <p:nvPr/>
        </p:nvSpPr>
        <p:spPr>
          <a:xfrm>
            <a:off x="4617720" y="2404872"/>
            <a:ext cx="0" cy="310896"/>
          </a:xfrm>
          <a:prstGeom prst="line">
            <a:avLst/>
          </a:prstGeom>
          <a:noFill/>
          <a:ln w="19050">
            <a:solidFill>
              <a:schemeClr val="accent5"/>
            </a:solidFill>
            <a:prstDash val="solid"/>
            <a:headEnd type="triangle"/>
            <a:tailEnd type="triangle"/>
          </a:ln>
        </p:spPr>
      </p:sp>
      <p:sp>
        <p:nvSpPr>
          <p:cNvPr id="23" name="Text 17"/>
          <p:cNvSpPr txBox="1"/>
          <p:nvPr/>
        </p:nvSpPr>
        <p:spPr>
          <a:xfrm>
            <a:off x="4754880" y="2414016"/>
            <a:ext cx="3840480" cy="292608"/>
          </a:xfrm>
          <a:prstGeom prst="rect">
            <a:avLst/>
          </a:prstGeom>
          <a:noFill/>
          <a:ln/>
        </p:spPr>
        <p:txBody>
          <a:bodyPr wrap="square" lIns="0" tIns="0" rIns="0" bIns="0" rtlCol="0" anchor="ctr"/>
          <a:lstStyle/>
          <a:p>
            <a:pPr indent="0" marL="0">
              <a:buNone/>
            </a:pPr>
            <a:r>
              <a:rPr lang="en-US" sz="1100" i="1" dirty="0">
                <a:solidFill>
                  <a:schemeClr val="accent5"/>
                </a:solidFill>
              </a:rPr>
              <a:t>tools: read state · propose · commit</a:t>
            </a:r>
            <a:endParaRPr lang="en-US" sz="1100" dirty="0"/>
          </a:p>
        </p:txBody>
      </p:sp>
      <p:sp>
        <p:nvSpPr>
          <p:cNvPr id="24" name="s4-agent-0"/>
          <p:cNvSpPr/>
          <p:nvPr/>
        </p:nvSpPr>
        <p:spPr>
          <a:xfrm>
            <a:off x="548640" y="2761488"/>
            <a:ext cx="1728216" cy="914400"/>
          </a:xfrm>
          <a:prstGeom prst="roundRect">
            <a:avLst>
              <a:gd name="adj" fmla="val 8000"/>
            </a:avLst>
          </a:prstGeom>
          <a:solidFill>
            <a:schemeClr val="bg2"/>
          </a:solidFill>
          <a:ln/>
        </p:spPr>
      </p:sp>
      <p:sp>
        <p:nvSpPr>
          <p:cNvPr id="25" name="s4-agent-disc-0"/>
          <p:cNvSpPr/>
          <p:nvPr/>
        </p:nvSpPr>
        <p:spPr>
          <a:xfrm>
            <a:off x="1257300" y="2852928"/>
            <a:ext cx="310896" cy="310896"/>
          </a:xfrm>
          <a:prstGeom prst="ellipse">
            <a:avLst/>
          </a:prstGeom>
          <a:solidFill>
            <a:schemeClr val="accent4"/>
          </a:solidFill>
          <a:ln/>
        </p:spPr>
      </p:sp>
      <p:pic>
        <p:nvPicPr>
          <p:cNvPr id="26" name="Image 4" descr="preencoded.png">    </p:cNvPr>
          <p:cNvPicPr>
            <a:picLocks noChangeAspect="1"/>
          </p:cNvPicPr>
          <p:nvPr/>
        </p:nvPicPr>
        <p:blipFill>
          <a:blip r:embed="rId5"/>
          <a:stretch>
            <a:fillRect/>
          </a:stretch>
        </p:blipFill>
        <p:spPr>
          <a:xfrm>
            <a:off x="1321308" y="2916936"/>
            <a:ext cx="182880" cy="182880"/>
          </a:xfrm>
          <a:prstGeom prst="rect">
            <a:avLst/>
          </a:prstGeom>
        </p:spPr>
      </p:pic>
      <p:sp>
        <p:nvSpPr>
          <p:cNvPr id="27" name="Text 20"/>
          <p:cNvSpPr txBox="1"/>
          <p:nvPr/>
        </p:nvSpPr>
        <p:spPr>
          <a:xfrm>
            <a:off x="603504"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Incident Assessment</a:t>
            </a:r>
            <a:endParaRPr lang="en-US" sz="1150" dirty="0"/>
          </a:p>
        </p:txBody>
      </p:sp>
      <p:sp>
        <p:nvSpPr>
          <p:cNvPr id="28" name="Text 21"/>
          <p:cNvSpPr txBox="1"/>
          <p:nvPr/>
        </p:nvSpPr>
        <p:spPr>
          <a:xfrm>
            <a:off x="603504"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urgency 0–100</a:t>
            </a:r>
            <a:endParaRPr lang="en-US" sz="950" dirty="0"/>
          </a:p>
        </p:txBody>
      </p:sp>
      <p:sp>
        <p:nvSpPr>
          <p:cNvPr id="29" name="s4-agent-1"/>
          <p:cNvSpPr/>
          <p:nvPr/>
        </p:nvSpPr>
        <p:spPr>
          <a:xfrm>
            <a:off x="2414016" y="2761488"/>
            <a:ext cx="1728216" cy="914400"/>
          </a:xfrm>
          <a:prstGeom prst="roundRect">
            <a:avLst>
              <a:gd name="adj" fmla="val 8000"/>
            </a:avLst>
          </a:prstGeom>
          <a:solidFill>
            <a:schemeClr val="bg2"/>
          </a:solidFill>
          <a:ln/>
        </p:spPr>
      </p:sp>
      <p:sp>
        <p:nvSpPr>
          <p:cNvPr id="30" name="s4-agent-disc-1"/>
          <p:cNvSpPr/>
          <p:nvPr/>
        </p:nvSpPr>
        <p:spPr>
          <a:xfrm>
            <a:off x="3122676" y="2852928"/>
            <a:ext cx="310896" cy="310896"/>
          </a:xfrm>
          <a:prstGeom prst="ellipse">
            <a:avLst/>
          </a:prstGeom>
          <a:solidFill>
            <a:schemeClr val="accent4"/>
          </a:solidFill>
          <a:ln/>
        </p:spPr>
      </p:sp>
      <p:pic>
        <p:nvPicPr>
          <p:cNvPr id="31" name="Image 5" descr="preencoded.png">    </p:cNvPr>
          <p:cNvPicPr>
            <a:picLocks noChangeAspect="1"/>
          </p:cNvPicPr>
          <p:nvPr/>
        </p:nvPicPr>
        <p:blipFill>
          <a:blip r:embed="rId6"/>
          <a:stretch>
            <a:fillRect/>
          </a:stretch>
        </p:blipFill>
        <p:spPr>
          <a:xfrm>
            <a:off x="3186684" y="2916936"/>
            <a:ext cx="182880" cy="182880"/>
          </a:xfrm>
          <a:prstGeom prst="rect">
            <a:avLst/>
          </a:prstGeom>
        </p:spPr>
      </p:pic>
      <p:sp>
        <p:nvSpPr>
          <p:cNvPr id="32" name="Text 24"/>
          <p:cNvSpPr txBox="1"/>
          <p:nvPr/>
        </p:nvSpPr>
        <p:spPr>
          <a:xfrm>
            <a:off x="2468880"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Dispatch</a:t>
            </a:r>
            <a:endParaRPr lang="en-US" sz="1150" dirty="0"/>
          </a:p>
        </p:txBody>
      </p:sp>
      <p:sp>
        <p:nvSpPr>
          <p:cNvPr id="33" name="Text 25"/>
          <p:cNvSpPr txBox="1"/>
          <p:nvPr/>
        </p:nvSpPr>
        <p:spPr>
          <a:xfrm>
            <a:off x="2468880"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assigns units</a:t>
            </a:r>
            <a:endParaRPr lang="en-US" sz="950" dirty="0"/>
          </a:p>
        </p:txBody>
      </p:sp>
      <p:sp>
        <p:nvSpPr>
          <p:cNvPr id="34" name="s4-agent-2"/>
          <p:cNvSpPr/>
          <p:nvPr/>
        </p:nvSpPr>
        <p:spPr>
          <a:xfrm>
            <a:off x="4279392" y="2761488"/>
            <a:ext cx="1728216" cy="914400"/>
          </a:xfrm>
          <a:prstGeom prst="roundRect">
            <a:avLst>
              <a:gd name="adj" fmla="val 8000"/>
            </a:avLst>
          </a:prstGeom>
          <a:solidFill>
            <a:schemeClr val="bg2"/>
          </a:solidFill>
          <a:ln/>
        </p:spPr>
      </p:sp>
      <p:sp>
        <p:nvSpPr>
          <p:cNvPr id="35" name="s4-agent-disc-2"/>
          <p:cNvSpPr/>
          <p:nvPr/>
        </p:nvSpPr>
        <p:spPr>
          <a:xfrm>
            <a:off x="4988052" y="2852928"/>
            <a:ext cx="310896" cy="310896"/>
          </a:xfrm>
          <a:prstGeom prst="ellipse">
            <a:avLst/>
          </a:prstGeom>
          <a:solidFill>
            <a:schemeClr val="accent4"/>
          </a:solidFill>
          <a:ln/>
        </p:spPr>
      </p:sp>
      <p:pic>
        <p:nvPicPr>
          <p:cNvPr id="36" name="Image 6" descr="preencoded.png">    </p:cNvPr>
          <p:cNvPicPr>
            <a:picLocks noChangeAspect="1"/>
          </p:cNvPicPr>
          <p:nvPr/>
        </p:nvPicPr>
        <p:blipFill>
          <a:blip r:embed="rId7"/>
          <a:stretch>
            <a:fillRect/>
          </a:stretch>
        </p:blipFill>
        <p:spPr>
          <a:xfrm>
            <a:off x="5052060" y="2916936"/>
            <a:ext cx="182880" cy="182880"/>
          </a:xfrm>
          <a:prstGeom prst="rect">
            <a:avLst/>
          </a:prstGeom>
        </p:spPr>
      </p:pic>
      <p:sp>
        <p:nvSpPr>
          <p:cNvPr id="37" name="Text 28"/>
          <p:cNvSpPr txBox="1"/>
          <p:nvPr/>
        </p:nvSpPr>
        <p:spPr>
          <a:xfrm>
            <a:off x="4334256"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Hospital H1</a:t>
            </a:r>
            <a:endParaRPr lang="en-US" sz="1150" dirty="0"/>
          </a:p>
        </p:txBody>
      </p:sp>
      <p:sp>
        <p:nvSpPr>
          <p:cNvPr id="38" name="Text 29"/>
          <p:cNvSpPr txBox="1"/>
          <p:nvPr/>
        </p:nvSpPr>
        <p:spPr>
          <a:xfrm>
            <a:off x="4334256"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trauma + burns</a:t>
            </a:r>
            <a:endParaRPr lang="en-US" sz="950" dirty="0"/>
          </a:p>
        </p:txBody>
      </p:sp>
      <p:sp>
        <p:nvSpPr>
          <p:cNvPr id="39" name="s4-agent-3"/>
          <p:cNvSpPr/>
          <p:nvPr/>
        </p:nvSpPr>
        <p:spPr>
          <a:xfrm>
            <a:off x="6144768" y="2761488"/>
            <a:ext cx="1728216" cy="914400"/>
          </a:xfrm>
          <a:prstGeom prst="roundRect">
            <a:avLst>
              <a:gd name="adj" fmla="val 8000"/>
            </a:avLst>
          </a:prstGeom>
          <a:solidFill>
            <a:schemeClr val="bg2"/>
          </a:solidFill>
          <a:ln/>
        </p:spPr>
      </p:sp>
      <p:sp>
        <p:nvSpPr>
          <p:cNvPr id="40" name="s4-agent-disc-3"/>
          <p:cNvSpPr/>
          <p:nvPr/>
        </p:nvSpPr>
        <p:spPr>
          <a:xfrm>
            <a:off x="6853428" y="2852928"/>
            <a:ext cx="310896" cy="310896"/>
          </a:xfrm>
          <a:prstGeom prst="ellipse">
            <a:avLst/>
          </a:prstGeom>
          <a:solidFill>
            <a:schemeClr val="accent4"/>
          </a:solidFill>
          <a:ln/>
        </p:spPr>
      </p:sp>
      <p:pic>
        <p:nvPicPr>
          <p:cNvPr id="41" name="Image 7" descr="preencoded.png">    </p:cNvPr>
          <p:cNvPicPr>
            <a:picLocks noChangeAspect="1"/>
          </p:cNvPicPr>
          <p:nvPr/>
        </p:nvPicPr>
        <p:blipFill>
          <a:blip r:embed="rId8"/>
          <a:stretch>
            <a:fillRect/>
          </a:stretch>
        </p:blipFill>
        <p:spPr>
          <a:xfrm>
            <a:off x="6917436" y="2916936"/>
            <a:ext cx="182880" cy="182880"/>
          </a:xfrm>
          <a:prstGeom prst="rect">
            <a:avLst/>
          </a:prstGeom>
        </p:spPr>
      </p:pic>
      <p:sp>
        <p:nvSpPr>
          <p:cNvPr id="42" name="Text 32"/>
          <p:cNvSpPr txBox="1"/>
          <p:nvPr/>
        </p:nvSpPr>
        <p:spPr>
          <a:xfrm>
            <a:off x="6199632"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Hospital H2</a:t>
            </a:r>
            <a:endParaRPr lang="en-US" sz="1150" dirty="0"/>
          </a:p>
        </p:txBody>
      </p:sp>
      <p:sp>
        <p:nvSpPr>
          <p:cNvPr id="43" name="Text 33"/>
          <p:cNvSpPr txBox="1"/>
          <p:nvPr/>
        </p:nvSpPr>
        <p:spPr>
          <a:xfrm>
            <a:off x="6199632"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general</a:t>
            </a:r>
            <a:endParaRPr lang="en-US" sz="950" dirty="0"/>
          </a:p>
        </p:txBody>
      </p:sp>
      <p:sp>
        <p:nvSpPr>
          <p:cNvPr id="44" name="s4-agent-4"/>
          <p:cNvSpPr/>
          <p:nvPr/>
        </p:nvSpPr>
        <p:spPr>
          <a:xfrm>
            <a:off x="8010144" y="2761488"/>
            <a:ext cx="1728216" cy="914400"/>
          </a:xfrm>
          <a:prstGeom prst="roundRect">
            <a:avLst>
              <a:gd name="adj" fmla="val 8000"/>
            </a:avLst>
          </a:prstGeom>
          <a:solidFill>
            <a:schemeClr val="bg2"/>
          </a:solidFill>
          <a:ln/>
        </p:spPr>
      </p:sp>
      <p:sp>
        <p:nvSpPr>
          <p:cNvPr id="45" name="s4-agent-disc-4"/>
          <p:cNvSpPr/>
          <p:nvPr/>
        </p:nvSpPr>
        <p:spPr>
          <a:xfrm>
            <a:off x="8718804" y="2852928"/>
            <a:ext cx="310896" cy="310896"/>
          </a:xfrm>
          <a:prstGeom prst="ellipse">
            <a:avLst/>
          </a:prstGeom>
          <a:solidFill>
            <a:schemeClr val="accent4"/>
          </a:solidFill>
          <a:ln/>
        </p:spPr>
      </p:sp>
      <p:pic>
        <p:nvPicPr>
          <p:cNvPr id="46" name="Image 8" descr="preencoded.png">    </p:cNvPr>
          <p:cNvPicPr>
            <a:picLocks noChangeAspect="1"/>
          </p:cNvPicPr>
          <p:nvPr/>
        </p:nvPicPr>
        <p:blipFill>
          <a:blip r:embed="rId9"/>
          <a:stretch>
            <a:fillRect/>
          </a:stretch>
        </p:blipFill>
        <p:spPr>
          <a:xfrm>
            <a:off x="8782812" y="2916936"/>
            <a:ext cx="182880" cy="182880"/>
          </a:xfrm>
          <a:prstGeom prst="rect">
            <a:avLst/>
          </a:prstGeom>
        </p:spPr>
      </p:pic>
      <p:sp>
        <p:nvSpPr>
          <p:cNvPr id="47" name="Text 36"/>
          <p:cNvSpPr txBox="1"/>
          <p:nvPr/>
        </p:nvSpPr>
        <p:spPr>
          <a:xfrm>
            <a:off x="8065008"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Hospital H3</a:t>
            </a:r>
            <a:endParaRPr lang="en-US" sz="1150" dirty="0"/>
          </a:p>
        </p:txBody>
      </p:sp>
      <p:sp>
        <p:nvSpPr>
          <p:cNvPr id="48" name="Text 37"/>
          <p:cNvSpPr txBox="1"/>
          <p:nvPr/>
        </p:nvSpPr>
        <p:spPr>
          <a:xfrm>
            <a:off x="8065008"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paediatric</a:t>
            </a:r>
            <a:endParaRPr lang="en-US" sz="950" dirty="0"/>
          </a:p>
        </p:txBody>
      </p:sp>
      <p:sp>
        <p:nvSpPr>
          <p:cNvPr id="49" name="s4-agent-5"/>
          <p:cNvSpPr/>
          <p:nvPr/>
        </p:nvSpPr>
        <p:spPr>
          <a:xfrm>
            <a:off x="9875520" y="2761488"/>
            <a:ext cx="1728216" cy="914400"/>
          </a:xfrm>
          <a:prstGeom prst="roundRect">
            <a:avLst>
              <a:gd name="adj" fmla="val 8000"/>
            </a:avLst>
          </a:prstGeom>
          <a:solidFill>
            <a:schemeClr val="bg2"/>
          </a:solidFill>
          <a:ln/>
        </p:spPr>
      </p:sp>
      <p:sp>
        <p:nvSpPr>
          <p:cNvPr id="50" name="s4-agent-disc-5"/>
          <p:cNvSpPr/>
          <p:nvPr/>
        </p:nvSpPr>
        <p:spPr>
          <a:xfrm>
            <a:off x="10584180" y="2852928"/>
            <a:ext cx="310896" cy="310896"/>
          </a:xfrm>
          <a:prstGeom prst="ellipse">
            <a:avLst/>
          </a:prstGeom>
          <a:solidFill>
            <a:schemeClr val="accent4"/>
          </a:solidFill>
          <a:ln/>
        </p:spPr>
      </p:sp>
      <p:pic>
        <p:nvPicPr>
          <p:cNvPr id="51" name="Image 9" descr="preencoded.png">    </p:cNvPr>
          <p:cNvPicPr>
            <a:picLocks noChangeAspect="1"/>
          </p:cNvPicPr>
          <p:nvPr/>
        </p:nvPicPr>
        <p:blipFill>
          <a:blip r:embed="rId10"/>
          <a:stretch>
            <a:fillRect/>
          </a:stretch>
        </p:blipFill>
        <p:spPr>
          <a:xfrm>
            <a:off x="10648188" y="2916936"/>
            <a:ext cx="182880" cy="182880"/>
          </a:xfrm>
          <a:prstGeom prst="rect">
            <a:avLst/>
          </a:prstGeom>
        </p:spPr>
      </p:pic>
      <p:sp>
        <p:nvSpPr>
          <p:cNvPr id="52" name="Text 40"/>
          <p:cNvSpPr txBox="1"/>
          <p:nvPr/>
        </p:nvSpPr>
        <p:spPr>
          <a:xfrm>
            <a:off x="9930384" y="3218688"/>
            <a:ext cx="1618488" cy="237744"/>
          </a:xfrm>
          <a:prstGeom prst="rect">
            <a:avLst/>
          </a:prstGeom>
          <a:noFill/>
          <a:ln/>
        </p:spPr>
        <p:txBody>
          <a:bodyPr wrap="square" lIns="0" tIns="0" rIns="0" bIns="0" rtlCol="0" anchor="t"/>
          <a:lstStyle/>
          <a:p>
            <a:pPr algn="ctr" indent="0" marL="0">
              <a:buNone/>
            </a:pPr>
            <a:r>
              <a:rPr lang="en-US" sz="1150" b="1" dirty="0">
                <a:solidFill>
                  <a:schemeClr val="tx1"/>
                </a:solidFill>
              </a:rPr>
              <a:t>Resource Alloc.</a:t>
            </a:r>
            <a:endParaRPr lang="en-US" sz="1150" dirty="0"/>
          </a:p>
        </p:txBody>
      </p:sp>
      <p:sp>
        <p:nvSpPr>
          <p:cNvPr id="53" name="Text 41"/>
          <p:cNvSpPr txBox="1"/>
          <p:nvPr/>
        </p:nvSpPr>
        <p:spPr>
          <a:xfrm>
            <a:off x="9930384" y="3456432"/>
            <a:ext cx="1618488" cy="201168"/>
          </a:xfrm>
          <a:prstGeom prst="rect">
            <a:avLst/>
          </a:prstGeom>
          <a:noFill/>
          <a:ln/>
        </p:spPr>
        <p:txBody>
          <a:bodyPr wrap="square" lIns="0" tIns="0" rIns="0" bIns="0" rtlCol="0" anchor="t"/>
          <a:lstStyle/>
          <a:p>
            <a:pPr algn="ctr" indent="0" marL="0">
              <a:buNone/>
            </a:pPr>
            <a:r>
              <a:rPr lang="en-US" sz="950" i="1" dirty="0">
                <a:solidFill>
                  <a:schemeClr val="accent5"/>
                </a:solidFill>
              </a:rPr>
              <a:t>resolves clashes</a:t>
            </a:r>
            <a:endParaRPr lang="en-US" sz="950" dirty="0"/>
          </a:p>
        </p:txBody>
      </p:sp>
      <p:sp>
        <p:nvSpPr>
          <p:cNvPr id="54" name="Text 42"/>
          <p:cNvSpPr txBox="1"/>
          <p:nvPr/>
        </p:nvSpPr>
        <p:spPr>
          <a:xfrm>
            <a:off x="548640" y="3931920"/>
            <a:ext cx="5486400" cy="274320"/>
          </a:xfrm>
          <a:prstGeom prst="rect">
            <a:avLst/>
          </a:prstGeom>
          <a:noFill/>
          <a:ln/>
        </p:spPr>
        <p:txBody>
          <a:bodyPr wrap="square" lIns="0" tIns="0" rIns="0" bIns="0" rtlCol="0" anchor="ctr"/>
          <a:lstStyle/>
          <a:p>
            <a:pPr indent="0" marL="0">
              <a:buNone/>
            </a:pPr>
            <a:r>
              <a:rPr lang="en-US" sz="1500" b="1" dirty="0">
                <a:solidFill>
                  <a:schemeClr val="tx1"/>
                </a:solidFill>
              </a:rPr>
              <a:t>How a conflict is resolved</a:t>
            </a:r>
            <a:endParaRPr lang="en-US" sz="1500" dirty="0"/>
          </a:p>
        </p:txBody>
      </p:sp>
      <p:sp>
        <p:nvSpPr>
          <p:cNvPr id="55" name="s4-steps-line"/>
          <p:cNvSpPr/>
          <p:nvPr/>
        </p:nvSpPr>
        <p:spPr>
          <a:xfrm>
            <a:off x="1371600" y="4617720"/>
            <a:ext cx="8961120" cy="0"/>
          </a:xfrm>
          <a:prstGeom prst="line">
            <a:avLst/>
          </a:prstGeom>
          <a:noFill/>
          <a:ln w="19050">
            <a:solidFill>
              <a:schemeClr val="accent6"/>
            </a:solidFill>
            <a:prstDash val="solid"/>
          </a:ln>
        </p:spPr>
      </p:sp>
      <p:sp>
        <p:nvSpPr>
          <p:cNvPr id="56" name="s4-step-0"/>
          <p:cNvSpPr/>
          <p:nvPr/>
        </p:nvSpPr>
        <p:spPr>
          <a:xfrm>
            <a:off x="1234440" y="4480560"/>
            <a:ext cx="274320" cy="274320"/>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7" name="s4-step-label-0"/>
          <p:cNvSpPr txBox="1"/>
          <p:nvPr/>
        </p:nvSpPr>
        <p:spPr>
          <a:xfrm>
            <a:off x="365760" y="4818888"/>
            <a:ext cx="2011680" cy="548640"/>
          </a:xfrm>
          <a:prstGeom prst="rect">
            <a:avLst/>
          </a:prstGeom>
          <a:noFill/>
          <a:ln/>
        </p:spPr>
        <p:txBody>
          <a:bodyPr wrap="square" lIns="0" tIns="0" rIns="0" bIns="0" rtlCol="0" anchor="t"/>
          <a:lstStyle/>
          <a:p>
            <a:pPr algn="ctr" indent="0" marL="0">
              <a:buNone/>
            </a:pPr>
            <a:r>
              <a:rPr lang="en-US" sz="1250" b="1" dirty="0">
                <a:solidFill>
                  <a:schemeClr val="tx1"/>
                </a:solidFill>
              </a:rPr>
              <a:t>Priority report</a:t>
            </a:r>
            <a:endParaRPr lang="en-US" sz="1250" dirty="0"/>
          </a:p>
          <a:p>
            <a:pPr algn="ctr" indent="0" marL="0">
              <a:buNone/>
            </a:pPr>
            <a:r>
              <a:rPr lang="en-US" sz="1050" dirty="0">
                <a:solidFill>
                  <a:schemeClr val="accent5"/>
                </a:solidFill>
              </a:rPr>
              <a:t>urgency, triage mix</a:t>
            </a:r>
            <a:endParaRPr lang="en-US" sz="1250" dirty="0"/>
          </a:p>
        </p:txBody>
      </p:sp>
      <p:sp>
        <p:nvSpPr>
          <p:cNvPr id="58" name="s4-step-1"/>
          <p:cNvSpPr/>
          <p:nvPr/>
        </p:nvSpPr>
        <p:spPr>
          <a:xfrm>
            <a:off x="3474720" y="4480560"/>
            <a:ext cx="274320" cy="274320"/>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59" name="s4-step-label-1"/>
          <p:cNvSpPr txBox="1"/>
          <p:nvPr/>
        </p:nvSpPr>
        <p:spPr>
          <a:xfrm>
            <a:off x="2606040" y="4818888"/>
            <a:ext cx="2011680" cy="548640"/>
          </a:xfrm>
          <a:prstGeom prst="rect">
            <a:avLst/>
          </a:prstGeom>
          <a:noFill/>
          <a:ln/>
        </p:spPr>
        <p:txBody>
          <a:bodyPr wrap="square" lIns="0" tIns="0" rIns="0" bIns="0" rtlCol="0" anchor="t"/>
          <a:lstStyle/>
          <a:p>
            <a:pPr algn="ctr" indent="0" marL="0">
              <a:buNone/>
            </a:pPr>
            <a:r>
              <a:rPr lang="en-US" sz="1250" b="1" dirty="0">
                <a:solidFill>
                  <a:schemeClr val="tx1"/>
                </a:solidFill>
              </a:rPr>
              <a:t>Propose</a:t>
            </a:r>
            <a:endParaRPr lang="en-US" sz="1250" dirty="0"/>
          </a:p>
          <a:p>
            <a:pPr algn="ctr" indent="0" marL="0">
              <a:buNone/>
            </a:pPr>
            <a:r>
              <a:rPr lang="en-US" sz="1050" dirty="0">
                <a:solidFill>
                  <a:schemeClr val="accent5"/>
                </a:solidFill>
              </a:rPr>
              <a:t>unit + hospital</a:t>
            </a:r>
            <a:endParaRPr lang="en-US" sz="1250" dirty="0"/>
          </a:p>
        </p:txBody>
      </p:sp>
      <p:sp>
        <p:nvSpPr>
          <p:cNvPr id="60" name="s4-step-2"/>
          <p:cNvSpPr/>
          <p:nvPr/>
        </p:nvSpPr>
        <p:spPr>
          <a:xfrm>
            <a:off x="5715000" y="4480560"/>
            <a:ext cx="274320" cy="274320"/>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61" name="s4-step-label-2"/>
          <p:cNvSpPr txBox="1"/>
          <p:nvPr/>
        </p:nvSpPr>
        <p:spPr>
          <a:xfrm>
            <a:off x="4846320" y="4818888"/>
            <a:ext cx="2011680" cy="548640"/>
          </a:xfrm>
          <a:prstGeom prst="rect">
            <a:avLst/>
          </a:prstGeom>
          <a:noFill/>
          <a:ln/>
        </p:spPr>
        <p:txBody>
          <a:bodyPr wrap="square" lIns="0" tIns="0" rIns="0" bIns="0" rtlCol="0" anchor="t"/>
          <a:lstStyle/>
          <a:p>
            <a:pPr algn="ctr" indent="0" marL="0">
              <a:buNone/>
            </a:pPr>
            <a:r>
              <a:rPr lang="en-US" sz="1250" b="1" dirty="0">
                <a:solidFill>
                  <a:schemeClr val="tx1"/>
                </a:solidFill>
              </a:rPr>
              <a:t>Respond</a:t>
            </a:r>
            <a:endParaRPr lang="en-US" sz="1250" dirty="0"/>
          </a:p>
          <a:p>
            <a:pPr algn="ctr" indent="0" marL="0">
              <a:buNone/>
            </a:pPr>
            <a:r>
              <a:rPr lang="en-US" sz="1050" dirty="0">
                <a:solidFill>
                  <a:schemeClr val="accent5"/>
                </a:solidFill>
              </a:rPr>
              <a:t>accept / reject / counter</a:t>
            </a:r>
            <a:endParaRPr lang="en-US" sz="1250" dirty="0"/>
          </a:p>
        </p:txBody>
      </p:sp>
      <p:sp>
        <p:nvSpPr>
          <p:cNvPr id="62" name="s4-step-3"/>
          <p:cNvSpPr/>
          <p:nvPr/>
        </p:nvSpPr>
        <p:spPr>
          <a:xfrm>
            <a:off x="7955280" y="4480560"/>
            <a:ext cx="274320" cy="274320"/>
          </a:xfrm>
          <a:prstGeom prst="ellipse">
            <a:avLst/>
          </a:prstGeom>
          <a:solidFill>
            <a:schemeClr val="tx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3" name="s4-step-label-3"/>
          <p:cNvSpPr txBox="1"/>
          <p:nvPr/>
        </p:nvSpPr>
        <p:spPr>
          <a:xfrm>
            <a:off x="7086600" y="4818888"/>
            <a:ext cx="2011680" cy="548640"/>
          </a:xfrm>
          <a:prstGeom prst="rect">
            <a:avLst/>
          </a:prstGeom>
          <a:noFill/>
          <a:ln/>
        </p:spPr>
        <p:txBody>
          <a:bodyPr wrap="square" lIns="0" tIns="0" rIns="0" bIns="0" rtlCol="0" anchor="t"/>
          <a:lstStyle/>
          <a:p>
            <a:pPr algn="ctr" indent="0" marL="0">
              <a:buNone/>
            </a:pPr>
            <a:r>
              <a:rPr lang="en-US" sz="1250" b="1" dirty="0">
                <a:solidFill>
                  <a:schemeClr val="tx1"/>
                </a:solidFill>
              </a:rPr>
              <a:t>Escalate</a:t>
            </a:r>
            <a:endParaRPr lang="en-US" sz="1250" dirty="0"/>
          </a:p>
          <a:p>
            <a:pPr algn="ctr" indent="0" marL="0">
              <a:buNone/>
            </a:pPr>
            <a:r>
              <a:rPr lang="en-US" sz="1050" dirty="0">
                <a:solidFill>
                  <a:schemeClr val="accent5"/>
                </a:solidFill>
              </a:rPr>
              <a:t>on any clash</a:t>
            </a:r>
            <a:endParaRPr lang="en-US" sz="1250" dirty="0"/>
          </a:p>
        </p:txBody>
      </p:sp>
      <p:sp>
        <p:nvSpPr>
          <p:cNvPr id="64" name="s4-step-4"/>
          <p:cNvSpPr/>
          <p:nvPr/>
        </p:nvSpPr>
        <p:spPr>
          <a:xfrm>
            <a:off x="10195560" y="4480560"/>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5" name="s4-step-label-4"/>
          <p:cNvSpPr txBox="1"/>
          <p:nvPr/>
        </p:nvSpPr>
        <p:spPr>
          <a:xfrm>
            <a:off x="9326880" y="4818888"/>
            <a:ext cx="2011680" cy="548640"/>
          </a:xfrm>
          <a:prstGeom prst="rect">
            <a:avLst/>
          </a:prstGeom>
          <a:noFill/>
          <a:ln/>
        </p:spPr>
        <p:txBody>
          <a:bodyPr wrap="square" lIns="0" tIns="0" rIns="0" bIns="0" rtlCol="0" anchor="t"/>
          <a:lstStyle/>
          <a:p>
            <a:pPr algn="ctr" indent="0" marL="0">
              <a:buNone/>
            </a:pPr>
            <a:r>
              <a:rPr lang="en-US" sz="1250" b="1" dirty="0">
                <a:solidFill>
                  <a:schemeClr val="tx1"/>
                </a:solidFill>
              </a:rPr>
              <a:t>Commit</a:t>
            </a:r>
            <a:endParaRPr lang="en-US" sz="1250" dirty="0"/>
          </a:p>
          <a:p>
            <a:pPr algn="ctr" indent="0" marL="0">
              <a:buNone/>
            </a:pPr>
            <a:r>
              <a:rPr lang="en-US" sz="1050" dirty="0">
                <a:solidFill>
                  <a:schemeClr val="accent5"/>
                </a:solidFill>
              </a:rPr>
              <a:t>≤3 rounds, survival-weighted</a:t>
            </a:r>
            <a:endParaRPr lang="en-US" sz="1250" dirty="0"/>
          </a:p>
        </p:txBody>
      </p:sp>
      <p:sp>
        <p:nvSpPr>
          <p:cNvPr id="66" name="Text 54"/>
          <p:cNvSpPr txBox="1"/>
          <p:nvPr/>
        </p:nvSpPr>
        <p:spPr>
          <a:xfrm>
            <a:off x="548640" y="5532120"/>
            <a:ext cx="11091672" cy="365760"/>
          </a:xfrm>
          <a:prstGeom prst="rect">
            <a:avLst/>
          </a:prstGeom>
          <a:noFill/>
          <a:ln/>
        </p:spPr>
        <p:txBody>
          <a:bodyPr wrap="square" lIns="0" tIns="0" rIns="0" bIns="0" rtlCol="0" anchor="t"/>
          <a:lstStyle/>
          <a:p>
            <a:pPr indent="0" marL="0">
              <a:buNone/>
            </a:pPr>
            <a:r>
              <a:rPr lang="en-US" sz="1100" i="1" dirty="0">
                <a:solidFill>
                  <a:schemeClr val="accent5"/>
                </a:solidFill>
              </a:rPr>
              <a:t>The engine applies only the final COMMIT; every PROPOSE, ACCEPT, REJECT, COUNTER and ESCALATE is logged and replayed in the dashboard.</a:t>
            </a:r>
            <a:endParaRPr lang="en-US" sz="1100" dirty="0"/>
          </a:p>
        </p:txBody>
      </p:sp>
      <p:sp>
        <p:nvSpPr>
          <p:cNvPr id="25" name="Slide Number Placeholder 0"/>
          <p:cNvSpPr>
            <a:spLocks noGrp="1"/>
          </p:cNvSpPr>
          <p:nvPr>
            <p:ph type="sldNum" sz="quarter" idx="4294967295"/>
          </p:nvPr>
        </p:nvSpPr>
        <p:spPr>
          <a:xfrm>
            <a:off x="11274552" y="644652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Dispatch Board">
  <a:themeElements>
    <a:clrScheme name="Dispatch Board">
      <a:dk1>
        <a:srgbClr val="1B1F24"/>
      </a:dk1>
      <a:lt1>
        <a:srgbClr val="FFFFFF"/>
      </a:lt1>
      <a:dk2>
        <a:srgbClr val="2B3440"/>
      </a:dk2>
      <a:lt2>
        <a:srgbClr val="EEF1F4"/>
      </a:lt2>
      <a:accent1>
        <a:srgbClr val="D7263D"/>
      </a:accent1>
      <a:accent2>
        <a:srgbClr val="E8A317"/>
      </a:accent2>
      <a:accent3>
        <a:srgbClr val="2E9E5B"/>
      </a:accent3>
      <a:accent4>
        <a:srgbClr val="3C6E91"/>
      </a:accent4>
      <a:accent5>
        <a:srgbClr val="5F6B78"/>
      </a:accent5>
      <a:accent6>
        <a:srgbClr val="A3ADB8"/>
      </a:accent6>
      <a:hlink>
        <a:srgbClr val="3C6E91"/>
      </a:hlink>
      <a:folHlink>
        <a:srgbClr val="5F6B78"/>
      </a:folHlink>
    </a:clrScheme>
    <a:fontScheme name="Dispatch Bo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Emergency Response Coordination: simulation design and data progress</dc:title>
  <dc:subject>CSYE7380 mid-term project progress check-in</dc:subject>
  <dc:creator>Shubham Bagwe</dc:creator>
  <cp:lastModifiedBy>Shubham Bagwe</cp:lastModifiedBy>
  <cp:revision>1</cp:revision>
  <dcterms:created xsi:type="dcterms:W3CDTF">2026-10-21T23:44:37Z</dcterms:created>
  <dcterms:modified xsi:type="dcterms:W3CDTF">2026-10-21T23:44:37Z</dcterms:modified>
</cp:coreProperties>
</file>